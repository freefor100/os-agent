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2349" autoAdjust="0"/>
  </p:normalViewPr>
  <p:slideViewPr>
    <p:cSldViewPr snapToGrid="0" snapToObjects="1">
      <p:cViewPr varScale="1">
        <p:scale>
          <a:sx n="112" d="100"/>
          <a:sy n="112" d="100"/>
        </p:scale>
        <p:origin x="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5236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 20 秒。开场先强调：这不是一个泛化的 AI 代码总结器，而是面向小型操作系统作品来源、真实增量和评审风险的分析比对系统。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 55 秒。先把操作系统相关性讲清楚：共享内核框架很正常，但真正的学生工作往往集中在页表、调度、VFS、驱动等少数关键路径；因此相似度高不等于抄袭，相似度低也不等于独立实现。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 50 秒。把项目包装为研究问题：不是做更复杂的相似度，而是研究如何将来源、工作量、机制与可信度组织成可证伪结论。四个问题就是后续 Agent 分工和证据模型的来源。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 50 秒。不要否定传统方法：MOSS、JPlag 适合高效召回，Blob/AST 提供确定性结构事实，LLM 擅长解释。我们的贡献是把它们放进 Base 感知、证据约束、可反驳的整体流程。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 65 秒。重点讲责任边界：脚本不能把相似度阈值升级成抄袭结论，Agent 也不能手写 commit、哈希或网页数据。事实层、判断层、仲裁层形成工程闭环。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 60 秒。强调学术创新点：不是简单“多开几个 Agent”，而是按判断目标拆分、限制上下文、用文件职责隔离结论，再通过仲裁收敛。调查路径可以因新发现重新组织。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 65 秒。这一页是核心学术包装。强调多源证据图：源码、Git、文档、指纹、外部时间线可以同时支撑、限定或反驳结论。材料更新会让既有仲裁失效，系统不是一次生成后永远正确。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 65 秒。强调 Base 追溯是操作系统谱系问题。双方都可能继承同一 rCore/xv6 版本，因此先扣除共同来源。传播方向必须同时有来源连续开发、目标批量引入、来源专属残留和更早来源排除。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 55 秒。用两个悖论说明原创率为何失真。工作量账本把实现状态、来源、相对 Base 的变化、工程投入和证据放在一起，特别适合操作系统这种共享框架占比高、关键贡献集中在少数机制的项目。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 60 秒。突出操作系统相关性：12 模块不是目录分类，而是小型 OS 的架构功能块。每个节点都要求从入口追到状态、关键调用、失败与并发边界，并说明相对 Base 的变化。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 55 秒。讲清楚技术路线不是“AST 查重”这么简单：Blob 提供精确身份，AST 提供结构弹性，Git 历史提供时间上下文。只对少量明确 commit 对做深入分析，降低成本并提高可解释性。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 50 秒。突出这是操作系统场景的完整性分析：不能只搜字符串，必须沿测试入口、参数解析、exec/syscall、内核机制追到输出是否被改变。提示词注入既是防护机制，也是智能体时代的新型审查对象。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 50 秒。介绍当前工程边界：review.py 与 core 生成事实，角色 Prompt 产出职责明确的 Markdown，React 只展示编译后的结果。固定 commit、对象哈希、证据卡与校验保证复现。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 40 秒。这页不要讲旧报告数量。强调已形成四类成果：方法、工程、资料和文档。438 是本地仓库目录规模，不等同于已完成分析案例数。新架构案例作为下一阶段，不在本次汇报中冒充现有结果。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 60 秒。用演进体现研究过程：我们不是一直堆功能，而是不断淘汰不适合来源推理的方法。然后简要说明已完成、进行中和下一步，以及两位队员的分工。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 45 秒。只讲现有工具、模型、使用场景与人工把关，不展示或虚构交互记录。最后说明源代码 Apache-2.0、答辩材料 CC BY-SA 4.0，以及第三方来源和 AI 使用均透明披露。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 30 秒。结尾用一句话回扣：我们不是给出一个相似度，而是让评委看见来源、工作量、内核机制和结论依据，并允许结论被更强证据推翻。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o/OS-Agent/tmp/ppt-analysis/template-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60520" y="749808"/>
            <a:ext cx="3154680" cy="310896"/>
          </a:xfrm>
          <a:prstGeom prst="roundRect">
            <a:avLst>
              <a:gd name="adj" fmla="val 23529"/>
            </a:avLst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233672" y="758952"/>
            <a:ext cx="3008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 功能挑战赛道 · </a:t>
            </a:r>
            <a:r>
              <a:rPr lang="en-US" altLang="zh-CN" sz="12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</a:t>
            </a:r>
            <a:r>
              <a:rPr lang="en-US" altLang="zh-CN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18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076174" y="2459453"/>
            <a:ext cx="7040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OS-Agent    </a:t>
            </a:r>
            <a:r>
              <a:rPr lang="zh-CN" alt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项目汇报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3561451" y="1645852"/>
            <a:ext cx="780010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面向小型操作系统的分析比对智能体系统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4187952" y="3602736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9D9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从“相似度检测”走向可证伪、可复核的工程证据推理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90474" y="4215384"/>
            <a:ext cx="6812280" cy="1161288"/>
          </a:xfrm>
          <a:prstGeom prst="roundRect">
            <a:avLst>
              <a:gd name="adj" fmla="val 6299"/>
            </a:avLst>
          </a:prstGeom>
          <a:solidFill>
            <a:srgbClr val="072239"/>
          </a:solidFill>
          <a:ln w="12700">
            <a:solidFill>
              <a:srgbClr val="315469"/>
            </a:solidFill>
            <a:prstDash val="solid"/>
          </a:ln>
        </p:spPr>
        <p:txBody>
          <a:bodyPr/>
          <a:lstStyle/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4443984" y="433879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华中科技大学 · OS照妖镜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4443984" y="5033737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250" dirty="0">
                <a:solidFill>
                  <a:srgbClr val="AFC9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参赛队员：</a:t>
            </a:r>
            <a:r>
              <a:rPr lang="en-US" sz="1250" dirty="0" err="1">
                <a:solidFill>
                  <a:srgbClr val="AFC9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刘建博</a:t>
            </a:r>
            <a:r>
              <a:rPr lang="en-US" sz="1250" dirty="0">
                <a:solidFill>
                  <a:srgbClr val="AFC9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1250" dirty="0">
                <a:solidFill>
                  <a:srgbClr val="AFC9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250" dirty="0">
                <a:solidFill>
                  <a:srgbClr val="AFC9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李佳峻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582912" y="6108611"/>
            <a:ext cx="1371600" cy="3128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8A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2026.07</a:t>
            </a:r>
            <a:endParaRPr lang="en-US" sz="105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444ADD2-7F32-D879-96F9-A8E9F6C29AB3}"/>
              </a:ext>
            </a:extLst>
          </p:cNvPr>
          <p:cNvSpPr txBox="1"/>
          <p:nvPr/>
        </p:nvSpPr>
        <p:spPr>
          <a:xfrm>
            <a:off x="4372746" y="4687269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</a:rPr>
              <a:t>T2026104879910136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o/OS-Agent/tmp/ppt-analysis/template-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0"/>
            <a:ext cx="586130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9037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/home/leo/OS-Agent/tmp/ppt-analysis/template-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74320"/>
            <a:ext cx="2651760" cy="60350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66928" y="1529492"/>
            <a:ext cx="56875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操作系统作品的“相似”</a:t>
            </a:r>
            <a:endParaRPr lang="en-US" sz="2950" dirty="0"/>
          </a:p>
          <a:p>
            <a:pPr marL="0" indent="0" algn="l">
              <a:buNone/>
            </a:pPr>
            <a:r>
              <a:rPr lang="en-US" sz="29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为什么难以直接解释？</a:t>
            </a:r>
            <a:endParaRPr lang="en-US" sz="2950" dirty="0"/>
          </a:p>
        </p:txBody>
      </p:sp>
      <p:sp>
        <p:nvSpPr>
          <p:cNvPr id="8" name="Shape 4"/>
          <p:cNvSpPr/>
          <p:nvPr/>
        </p:nvSpPr>
        <p:spPr>
          <a:xfrm>
            <a:off x="566928" y="2926080"/>
            <a:ext cx="411480" cy="411480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115568" y="2998759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谱系复杂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258567" y="3019570"/>
            <a:ext cx="4224213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rCore、uCore、xv6、RT-Thread</a:t>
            </a:r>
            <a:r>
              <a:rPr lang="zh-CN" altLang="en-US" sz="118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altLang="zh-CN" sz="1180" dirty="0" err="1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ArceOS</a:t>
            </a:r>
            <a:r>
              <a:rPr lang="en-US" sz="118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等</a:t>
            </a:r>
            <a:r>
              <a:rPr lang="zh-CN" altLang="en-US" sz="118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不同谱系有不同的来源形式，</a:t>
            </a:r>
            <a:r>
              <a:rPr lang="en-US" sz="1180" dirty="0" err="1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多层来源交织</a:t>
            </a:r>
            <a:endParaRPr lang="en-US" sz="1180" dirty="0"/>
          </a:p>
        </p:txBody>
      </p:sp>
      <p:sp>
        <p:nvSpPr>
          <p:cNvPr id="12" name="Shape 8"/>
          <p:cNvSpPr/>
          <p:nvPr/>
        </p:nvSpPr>
        <p:spPr>
          <a:xfrm>
            <a:off x="566928" y="3630168"/>
            <a:ext cx="411480" cy="411480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66928" y="3630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115567" y="3702847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机制跨层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267712" y="3736270"/>
            <a:ext cx="3813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Trap、页表、调度、VFS、驱动与硬件边界相互牵连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566928" y="4334256"/>
            <a:ext cx="411480" cy="411480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66928" y="4334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124712" y="44001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变化异质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2258567" y="4444457"/>
            <a:ext cx="3813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继承、适配、重构、外部引入与学生新增混在同一仓库</a:t>
            </a:r>
            <a:endParaRPr lang="en-US" sz="1180" dirty="0"/>
          </a:p>
        </p:txBody>
      </p:sp>
      <p:sp>
        <p:nvSpPr>
          <p:cNvPr id="20" name="Shape 16"/>
          <p:cNvSpPr/>
          <p:nvPr/>
        </p:nvSpPr>
        <p:spPr>
          <a:xfrm>
            <a:off x="566928" y="5038344"/>
            <a:ext cx="411480" cy="41148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66928" y="5038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115567" y="511701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结论高风险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2258568" y="5152644"/>
            <a:ext cx="3813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相似度不能直接升级为抄袭、原创或工作量判断</a:t>
            </a:r>
            <a:endParaRPr lang="en-US" sz="1180" dirty="0"/>
          </a:p>
        </p:txBody>
      </p:sp>
      <p:sp>
        <p:nvSpPr>
          <p:cNvPr id="24" name="Text 20"/>
          <p:cNvSpPr txBox="1"/>
          <p:nvPr/>
        </p:nvSpPr>
        <p:spPr>
          <a:xfrm>
            <a:off x="566928" y="5897880"/>
            <a:ext cx="6023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OS-Agent 的研究对象是“小型 OS 工程谱系”，</a:t>
            </a:r>
            <a:r>
              <a:rPr lang="en-US" sz="1450" b="1" dirty="0" err="1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而非普通</a:t>
            </a:r>
            <a:r>
              <a:rPr lang="zh-CN" altLang="en-US" sz="14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</a:t>
            </a:r>
            <a:r>
              <a:rPr lang="en-US" sz="1450" b="1" dirty="0" err="1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文本集合</a:t>
            </a:r>
            <a:r>
              <a:rPr lang="en-US" sz="14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50" dirty="0"/>
          </a:p>
        </p:txBody>
      </p:sp>
      <p:sp>
        <p:nvSpPr>
          <p:cNvPr id="26" name="Text 22"/>
          <p:cNvSpPr txBox="1"/>
          <p:nvPr/>
        </p:nvSpPr>
        <p:spPr>
          <a:xfrm>
            <a:off x="11247120" y="6473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6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o/OS-Agent/tmp/ppt-analysis/template-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9456"/>
            <a:ext cx="2651760" cy="6035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632" y="94183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57784" y="950976"/>
            <a:ext cx="356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170432" y="850392"/>
            <a:ext cx="1001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研究问题：从相似度检测到可证伪的来源推理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8132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我们不追求一个替代评委的分数，而是构造一组可以被证据支持、限定或推翻的结论。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81728" y="2084832"/>
            <a:ext cx="2816352" cy="2816352"/>
          </a:xfrm>
          <a:prstGeom prst="ellipse">
            <a:avLst/>
          </a:prstGeom>
          <a:solidFill>
            <a:srgbClr val="001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0" y="287121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相似性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596128" y="3236976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≠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965192" y="365760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D6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来源与贡献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58368" y="2057400"/>
            <a:ext cx="3291840" cy="1115568"/>
          </a:xfrm>
          <a:prstGeom prst="roundRect">
            <a:avLst>
              <a:gd name="adj" fmla="val 6557"/>
            </a:avLst>
          </a:prstGeom>
          <a:solidFill>
            <a:srgbClr val="F1FAF9"/>
          </a:solidFill>
          <a:ln w="12700">
            <a:solidFill>
              <a:srgbClr val="B9DE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" y="224028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作品从哪里发展而来？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" y="271576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主骨架 Base、外部来源与版本链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22960" y="1892808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96112" y="1901952"/>
            <a:ext cx="384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58368" y="3703320"/>
            <a:ext cx="3291840" cy="1115568"/>
          </a:xfrm>
          <a:prstGeom prst="roundRect">
            <a:avLst>
              <a:gd name="adj" fmla="val 6557"/>
            </a:avLst>
          </a:prstGeom>
          <a:solidFill>
            <a:srgbClr val="F1FAF9"/>
          </a:solidFill>
          <a:ln w="12700">
            <a:solidFill>
              <a:srgbClr val="B9DE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9536" y="388620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选手完成了哪些真实增量？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" y="436168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继承、适配、改写、新增与缺失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822960" y="3538728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96112" y="3547872"/>
            <a:ext cx="384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47888" y="2057400"/>
            <a:ext cx="3291840" cy="1115568"/>
          </a:xfrm>
          <a:prstGeom prst="roundRect">
            <a:avLst>
              <a:gd name="adj" fmla="val 6557"/>
            </a:avLst>
          </a:prstGeom>
          <a:solidFill>
            <a:srgbClr val="F1FAF9"/>
          </a:solidFill>
          <a:ln w="12700">
            <a:solidFill>
              <a:srgbClr val="B9DED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49056" y="224028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内核机制实际上如何工作？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449056" y="271576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入口、状态、关键路径、并发与失败语义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8412480" y="1892808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85632" y="1901952"/>
            <a:ext cx="384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247888" y="3703320"/>
            <a:ext cx="3291840" cy="1115568"/>
          </a:xfrm>
          <a:prstGeom prst="roundRect">
            <a:avLst>
              <a:gd name="adj" fmla="val 6557"/>
            </a:avLst>
          </a:prstGeom>
          <a:solidFill>
            <a:srgbClr val="FFF5DF"/>
          </a:solidFill>
          <a:ln w="12700">
            <a:solidFill>
              <a:srgbClr val="F2D89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49056" y="388620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结论是否可信、能否复核？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449056" y="436168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 err="1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源码、Git、文档、指纹与反证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8412480" y="3538728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E8A8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85632" y="3547872"/>
            <a:ext cx="384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886199" y="2606039"/>
            <a:ext cx="858171" cy="443475"/>
          </a:xfrm>
          <a:prstGeom prst="line">
            <a:avLst/>
          </a:prstGeom>
          <a:noFill/>
          <a:ln w="19050">
            <a:solidFill>
              <a:srgbClr val="23978B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 flipV="1">
            <a:off x="3886200" y="3998135"/>
            <a:ext cx="858170" cy="98377"/>
          </a:xfrm>
          <a:prstGeom prst="line">
            <a:avLst/>
          </a:prstGeom>
          <a:noFill/>
          <a:ln w="19050">
            <a:solidFill>
              <a:srgbClr val="23978B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 flipH="1">
            <a:off x="7447630" y="2862072"/>
            <a:ext cx="736250" cy="310896"/>
          </a:xfrm>
          <a:prstGeom prst="line">
            <a:avLst/>
          </a:prstGeom>
          <a:noFill/>
          <a:ln w="19050">
            <a:solidFill>
              <a:srgbClr val="23978B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 flipH="1" flipV="1">
            <a:off x="7398862" y="3998134"/>
            <a:ext cx="794162" cy="125809"/>
          </a:xfrm>
          <a:prstGeom prst="line">
            <a:avLst/>
          </a:prstGeom>
          <a:noFill/>
          <a:ln w="19050">
            <a:solidFill>
              <a:srgbClr val="E8A838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2340864" y="5394960"/>
            <a:ext cx="7543800" cy="640080"/>
          </a:xfrm>
          <a:prstGeom prst="roundRect">
            <a:avLst>
              <a:gd name="adj" fmla="val 11429"/>
            </a:avLst>
          </a:prstGeom>
          <a:solidFill>
            <a:srgbClr val="F4F8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615184" y="5532120"/>
            <a:ext cx="7013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研究目标：</a:t>
            </a:r>
            <a:r>
              <a:rPr lang="en-US" sz="140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把专家评审过程形式化为“多目标、多证据、相互制约”的推理系统。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73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6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o/OS-Agent/tmp/ppt-analysis/template-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9456"/>
            <a:ext cx="2651760" cy="6035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632" y="94183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57784" y="950976"/>
            <a:ext cx="356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170432" y="850392"/>
            <a:ext cx="1001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现有方法的能力缺口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METHODS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8132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文本、Token、AST 与 LLM 各有价值，但单独使用都无法覆盖操作系统作品的谱系与工作量推理。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3218688" y="19568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批量召回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9568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 Base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382512" y="19568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传播方向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964424" y="19568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工作量分层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9546336" y="19568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可复核解释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58952" y="2359152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MOSS / Winnowing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58952" y="26060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局部指纹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739896" y="2432304"/>
            <a:ext cx="237744" cy="237744"/>
          </a:xfrm>
          <a:prstGeom prst="ellipse">
            <a:avLst/>
          </a:prstGeom>
          <a:solidFill>
            <a:srgbClr val="3D9E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39896" y="24185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21808" y="2432304"/>
            <a:ext cx="237744" cy="237744"/>
          </a:xfrm>
          <a:prstGeom prst="ellipse">
            <a:avLst/>
          </a:prstGeom>
          <a:solidFill>
            <a:srgbClr val="A6B5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03720" y="2432304"/>
            <a:ext cx="237744" cy="237744"/>
          </a:xfrm>
          <a:prstGeom prst="ellipse">
            <a:avLst/>
          </a:prstGeom>
          <a:solidFill>
            <a:srgbClr val="A6B5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85632" y="2432304"/>
            <a:ext cx="237744" cy="237744"/>
          </a:xfrm>
          <a:prstGeom prst="ellipse">
            <a:avLst/>
          </a:prstGeom>
          <a:solidFill>
            <a:srgbClr val="A6B5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067544" y="2432304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" y="2962656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JPlag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758952" y="32095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序列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739896" y="3035808"/>
            <a:ext cx="237744" cy="237744"/>
          </a:xfrm>
          <a:prstGeom prst="ellipse">
            <a:avLst/>
          </a:prstGeom>
          <a:solidFill>
            <a:srgbClr val="3D9E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739896" y="30220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321808" y="3035808"/>
            <a:ext cx="237744" cy="237744"/>
          </a:xfrm>
          <a:prstGeom prst="ellipse">
            <a:avLst/>
          </a:prstGeom>
          <a:solidFill>
            <a:srgbClr val="A6B5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03720" y="3035808"/>
            <a:ext cx="237744" cy="237744"/>
          </a:xfrm>
          <a:prstGeom prst="ellipse">
            <a:avLst/>
          </a:prstGeom>
          <a:solidFill>
            <a:srgbClr val="A6B5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85632" y="3035808"/>
            <a:ext cx="237744" cy="237744"/>
          </a:xfrm>
          <a:prstGeom prst="ellipse">
            <a:avLst/>
          </a:prstGeom>
          <a:solidFill>
            <a:srgbClr val="A6B5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067544" y="3035808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8952" y="3566160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Blob + AST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758952" y="38130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确定性结构事实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739896" y="3639312"/>
            <a:ext cx="237744" cy="237744"/>
          </a:xfrm>
          <a:prstGeom prst="ellipse">
            <a:avLst/>
          </a:prstGeom>
          <a:solidFill>
            <a:srgbClr val="3D9E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739896" y="36255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321808" y="3639312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903720" y="3639312"/>
            <a:ext cx="237744" cy="237744"/>
          </a:xfrm>
          <a:prstGeom prst="ellipse">
            <a:avLst/>
          </a:prstGeom>
          <a:solidFill>
            <a:srgbClr val="A6B5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485632" y="3639312"/>
            <a:ext cx="237744" cy="237744"/>
          </a:xfrm>
          <a:prstGeom prst="ellipse">
            <a:avLst/>
          </a:prstGeom>
          <a:solidFill>
            <a:srgbClr val="A6B5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067544" y="3639312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58952" y="4169664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单次长上下文 LLM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758952" y="441655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自然语言解释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3739896" y="4242816"/>
            <a:ext cx="237744" cy="237744"/>
          </a:xfrm>
          <a:prstGeom prst="ellipse">
            <a:avLst/>
          </a:prstGeom>
          <a:solidFill>
            <a:srgbClr val="A6B5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321808" y="4242816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903720" y="4242816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485632" y="4242816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067544" y="4242816"/>
            <a:ext cx="237744" cy="237744"/>
          </a:xfrm>
          <a:prstGeom prst="ellipse">
            <a:avLst/>
          </a:prstGeom>
          <a:solidFill>
            <a:srgbClr val="A6B5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85216" y="4727448"/>
            <a:ext cx="10927080" cy="530352"/>
          </a:xfrm>
          <a:prstGeom prst="roundRect">
            <a:avLst>
              <a:gd name="adj" fmla="val 13793"/>
            </a:avLst>
          </a:prstGeom>
          <a:solidFill>
            <a:srgbClr val="E7F5F3"/>
          </a:solidFill>
          <a:ln w="12700">
            <a:solidFill>
              <a:srgbClr val="A4D7D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58952" y="477316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OS-Agent</a:t>
            </a:r>
            <a:endParaRPr lang="en-US" sz="1350" dirty="0"/>
          </a:p>
        </p:txBody>
      </p:sp>
      <p:sp>
        <p:nvSpPr>
          <p:cNvPr id="46" name="Text 43"/>
          <p:cNvSpPr txBox="1"/>
          <p:nvPr/>
        </p:nvSpPr>
        <p:spPr>
          <a:xfrm>
            <a:off x="758952" y="502005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证据推理系统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3739896" y="4846320"/>
            <a:ext cx="237744" cy="237744"/>
          </a:xfrm>
          <a:prstGeom prst="ellipse">
            <a:avLst/>
          </a:prstGeom>
          <a:solidFill>
            <a:srgbClr val="3D9E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739896" y="48326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5321808" y="4846320"/>
            <a:ext cx="237744" cy="237744"/>
          </a:xfrm>
          <a:prstGeom prst="ellipse">
            <a:avLst/>
          </a:prstGeom>
          <a:solidFill>
            <a:srgbClr val="3D9E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321808" y="48326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903720" y="4846320"/>
            <a:ext cx="237744" cy="237744"/>
          </a:xfrm>
          <a:prstGeom prst="ellipse">
            <a:avLst/>
          </a:prstGeom>
          <a:solidFill>
            <a:srgbClr val="3D9E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903720" y="48326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8485632" y="4846320"/>
            <a:ext cx="237744" cy="237744"/>
          </a:xfrm>
          <a:prstGeom prst="ellipse">
            <a:avLst/>
          </a:prstGeom>
          <a:solidFill>
            <a:srgbClr val="3D9E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485632" y="48326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10067544" y="4846320"/>
            <a:ext cx="237744" cy="237744"/>
          </a:xfrm>
          <a:prstGeom prst="ellipse">
            <a:avLst/>
          </a:prstGeom>
          <a:solidFill>
            <a:srgbClr val="3D9E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067544" y="48326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7342632" y="5586984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E9F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7415784" y="5596128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9E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完整支持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8485632" y="5586984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F5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558784" y="5596128"/>
            <a:ext cx="996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需人工补充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9784080" y="5586984"/>
            <a:ext cx="877824" cy="310896"/>
          </a:xfrm>
          <a:prstGeom prst="roundRect">
            <a:avLst>
              <a:gd name="adj" fmla="val 23529"/>
            </a:avLst>
          </a:prstGeom>
          <a:solidFill>
            <a:srgbClr val="EEF2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857232" y="5596128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不覆盖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621792" y="5532120"/>
            <a:ext cx="6309360" cy="585216"/>
          </a:xfrm>
          <a:prstGeom prst="roundRect">
            <a:avLst>
              <a:gd name="adj" fmla="val 12500"/>
            </a:avLst>
          </a:prstGeom>
          <a:solidFill>
            <a:srgbClr val="001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786384" y="568189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OS-Agent 的创新不在“替换某个算法”，而在把互补方法组织成可回溯的推理闭环。</a:t>
            </a:r>
            <a:endParaRPr lang="en-US" sz="1260" dirty="0"/>
          </a:p>
        </p:txBody>
      </p:sp>
      <p:sp>
        <p:nvSpPr>
          <p:cNvPr id="66" name="Text 63"/>
          <p:cNvSpPr txBox="1"/>
          <p:nvPr/>
        </p:nvSpPr>
        <p:spPr>
          <a:xfrm>
            <a:off x="11247120" y="6473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6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o/OS-Agent/tmp/ppt-analysis/template-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9456"/>
            <a:ext cx="2651760" cy="6035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" y="122088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12064" y="1230026"/>
            <a:ext cx="356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124712" y="1129442"/>
            <a:ext cx="1001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总体架构：确定性事实与语义判断分工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175123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程序负责“可重复地计算什么”，Agent 负责“这些事实意味着什么”；二者都不能越权。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57200" y="2272442"/>
            <a:ext cx="1965960" cy="3529584"/>
          </a:xfrm>
          <a:prstGeom prst="roundRect">
            <a:avLst>
              <a:gd name="adj" fmla="val 3721"/>
            </a:avLst>
          </a:prstGeom>
          <a:solidFill>
            <a:srgbClr val="F4F8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49189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多源输入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5800" y="2985674"/>
            <a:ext cx="429768" cy="429768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98567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271016" y="3022250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目标源码 / Base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685800" y="3616610"/>
            <a:ext cx="429768" cy="429768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61661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71016" y="3653186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提交、分支与时间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685800" y="4247546"/>
            <a:ext cx="429768" cy="429768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424754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271016" y="428412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设计文档 / README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685800" y="4878482"/>
            <a:ext cx="429768" cy="42976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487848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71016" y="491505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历届作品与外部来源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2770632" y="2272442"/>
            <a:ext cx="2240280" cy="3529584"/>
          </a:xfrm>
          <a:prstGeom prst="roundRect">
            <a:avLst>
              <a:gd name="adj" fmla="val 3265"/>
            </a:avLst>
          </a:prstGeom>
          <a:solidFill>
            <a:srgbClr val="F1FAF9"/>
          </a:solidFill>
          <a:ln w="12700">
            <a:solidFill>
              <a:srgbClr val="AAD9D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044952" y="249189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确定性事实层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2889504" y="2930810"/>
            <a:ext cx="202082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150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 commit 与 tree</a:t>
            </a:r>
            <a:endParaRPr lang="en-US" sz="1150" dirty="0"/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150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blob / AST 指纹</a:t>
            </a:r>
            <a:endParaRPr lang="en-US" sz="1150" dirty="0"/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150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候选与 commit 对比较</a:t>
            </a:r>
            <a:endParaRPr lang="en-US" sz="1150" dirty="0"/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150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证据抽取、哈希与去重</a:t>
            </a:r>
            <a:endParaRPr lang="en-US" sz="1150" dirty="0"/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150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结构校验与网页编译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136392" y="5271674"/>
            <a:ext cx="1517904" cy="310896"/>
          </a:xfrm>
          <a:prstGeom prst="roundRect">
            <a:avLst>
              <a:gd name="adj" fmla="val 23529"/>
            </a:avLst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209544" y="528081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输出：可复现事实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376672" y="2272442"/>
            <a:ext cx="2971800" cy="3529584"/>
          </a:xfrm>
          <a:prstGeom prst="roundRect">
            <a:avLst>
              <a:gd name="adj" fmla="val 2462"/>
            </a:avLst>
          </a:prstGeom>
          <a:solidFill>
            <a:srgbClr val="00162A"/>
          </a:solidFill>
          <a:ln w="12700">
            <a:solidFill>
              <a:srgbClr val="2147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687568" y="249189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受约束的 Agent 调查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5705856" y="3040538"/>
            <a:ext cx="1042416" cy="749808"/>
          </a:xfrm>
          <a:prstGeom prst="roundRect">
            <a:avLst>
              <a:gd name="adj" fmla="val 9756"/>
            </a:avLst>
          </a:prstGeom>
          <a:solidFill>
            <a:srgbClr val="10364A"/>
          </a:solidFill>
          <a:ln w="12700">
            <a:solidFill>
              <a:srgbClr val="3156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779008" y="313197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D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779008" y="340629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来源与同届方向</a:t>
            </a:r>
            <a:endParaRPr lang="en-US" sz="920" dirty="0"/>
          </a:p>
        </p:txBody>
      </p:sp>
      <p:sp>
        <p:nvSpPr>
          <p:cNvPr id="32" name="Shape 29"/>
          <p:cNvSpPr/>
          <p:nvPr/>
        </p:nvSpPr>
        <p:spPr>
          <a:xfrm>
            <a:off x="6903720" y="3040538"/>
            <a:ext cx="1042416" cy="749808"/>
          </a:xfrm>
          <a:prstGeom prst="roundRect">
            <a:avLst>
              <a:gd name="adj" fmla="val 9756"/>
            </a:avLst>
          </a:prstGeom>
          <a:solidFill>
            <a:srgbClr val="10364A"/>
          </a:solidFill>
          <a:ln w="12700">
            <a:solidFill>
              <a:srgbClr val="31566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976872" y="313197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D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12×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976872" y="340629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内核模块机制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5705856" y="4000658"/>
            <a:ext cx="1042416" cy="749808"/>
          </a:xfrm>
          <a:prstGeom prst="roundRect">
            <a:avLst>
              <a:gd name="adj" fmla="val 9756"/>
            </a:avLst>
          </a:prstGeom>
          <a:solidFill>
            <a:srgbClr val="10364A"/>
          </a:solidFill>
          <a:ln w="12700">
            <a:solidFill>
              <a:srgbClr val="31566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779008" y="409209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DD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</a:t>
            </a:r>
            <a:r>
              <a:rPr lang="en-US" altLang="zh-CN" sz="1200" b="1" dirty="0">
                <a:solidFill>
                  <a:srgbClr val="9DD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ory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779008" y="436641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开发历史 / AI</a:t>
            </a:r>
            <a:endParaRPr lang="en-US" sz="920" dirty="0"/>
          </a:p>
        </p:txBody>
      </p:sp>
      <p:sp>
        <p:nvSpPr>
          <p:cNvPr id="38" name="Shape 35"/>
          <p:cNvSpPr/>
          <p:nvPr/>
        </p:nvSpPr>
        <p:spPr>
          <a:xfrm>
            <a:off x="6903720" y="4000658"/>
            <a:ext cx="1042416" cy="749808"/>
          </a:xfrm>
          <a:prstGeom prst="roundRect">
            <a:avLst>
              <a:gd name="adj" fmla="val 9756"/>
            </a:avLst>
          </a:prstGeom>
          <a:solidFill>
            <a:srgbClr val="4A2B2A"/>
          </a:solidFill>
          <a:ln w="12700">
            <a:solidFill>
              <a:srgbClr val="8B5A5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976872" y="409209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6976872" y="436641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完整性风险</a:t>
            </a:r>
            <a:endParaRPr lang="en-US" sz="920" dirty="0"/>
          </a:p>
        </p:txBody>
      </p:sp>
      <p:sp>
        <p:nvSpPr>
          <p:cNvPr id="41" name="Shape 38"/>
          <p:cNvSpPr/>
          <p:nvPr/>
        </p:nvSpPr>
        <p:spPr>
          <a:xfrm>
            <a:off x="6044184" y="527167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117336" y="5280818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输出：可限定结论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732520" y="2272442"/>
            <a:ext cx="2880360" cy="3529584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5240">
            <a:solidFill>
              <a:srgbClr val="BACCD3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061704" y="249189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强制收敛与展示</a:t>
            </a:r>
            <a:endParaRPr lang="en-US" sz="1700" dirty="0"/>
          </a:p>
        </p:txBody>
      </p:sp>
      <p:sp>
        <p:nvSpPr>
          <p:cNvPr id="45" name="Shape 42"/>
          <p:cNvSpPr/>
          <p:nvPr/>
        </p:nvSpPr>
        <p:spPr>
          <a:xfrm>
            <a:off x="9144000" y="3022250"/>
            <a:ext cx="2057400" cy="841248"/>
          </a:xfrm>
          <a:prstGeom prst="roundRect">
            <a:avLst>
              <a:gd name="adj" fmla="val 8696"/>
            </a:avLst>
          </a:prstGeom>
          <a:solidFill>
            <a:srgbClr val="FFF5DF"/>
          </a:solidFill>
          <a:ln w="12700">
            <a:solidFill>
              <a:srgbClr val="E9C77B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290304" y="3131978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矛盾仲裁</a:t>
            </a:r>
            <a:endParaRPr lang="en-US" sz="1450" dirty="0"/>
          </a:p>
        </p:txBody>
      </p:sp>
      <p:sp>
        <p:nvSpPr>
          <p:cNvPr id="47" name="Text 44"/>
          <p:cNvSpPr txBox="1"/>
          <p:nvPr/>
        </p:nvSpPr>
        <p:spPr>
          <a:xfrm>
            <a:off x="9253728" y="3442874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 / 推翻 / 降级 / 补证</a:t>
            </a:r>
            <a:endParaRPr lang="en-US" sz="1030" dirty="0"/>
          </a:p>
        </p:txBody>
      </p:sp>
      <p:sp>
        <p:nvSpPr>
          <p:cNvPr id="48" name="Shape 45"/>
          <p:cNvSpPr/>
          <p:nvPr/>
        </p:nvSpPr>
        <p:spPr>
          <a:xfrm>
            <a:off x="10168128" y="3890930"/>
            <a:ext cx="0" cy="384048"/>
          </a:xfrm>
          <a:prstGeom prst="line">
            <a:avLst/>
          </a:prstGeom>
          <a:noFill/>
          <a:ln w="20320">
            <a:solidFill>
              <a:srgbClr val="E8A838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9144000" y="4302410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E7F5F3"/>
          </a:solidFill>
          <a:ln w="12700">
            <a:solidFill>
              <a:srgbClr val="ADD8D3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290304" y="4412138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报告编辑</a:t>
            </a:r>
            <a:endParaRPr lang="en-US" sz="1450" dirty="0"/>
          </a:p>
        </p:txBody>
      </p:sp>
      <p:sp>
        <p:nvSpPr>
          <p:cNvPr id="51" name="Text 48"/>
          <p:cNvSpPr txBox="1"/>
          <p:nvPr/>
        </p:nvSpPr>
        <p:spPr>
          <a:xfrm>
            <a:off x="9253728" y="4723034"/>
            <a:ext cx="1837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不增加新事实</a:t>
            </a:r>
            <a:endParaRPr lang="en-US" sz="1030" dirty="0"/>
          </a:p>
        </p:txBody>
      </p:sp>
      <p:sp>
        <p:nvSpPr>
          <p:cNvPr id="52" name="Shape 49"/>
          <p:cNvSpPr/>
          <p:nvPr/>
        </p:nvSpPr>
        <p:spPr>
          <a:xfrm>
            <a:off x="10168128" y="5033930"/>
            <a:ext cx="0" cy="301752"/>
          </a:xfrm>
          <a:prstGeom prst="line">
            <a:avLst/>
          </a:prstGeom>
          <a:noFill/>
          <a:ln w="20320">
            <a:solidFill>
              <a:srgbClr val="23978B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9308592" y="5344826"/>
            <a:ext cx="1719072" cy="310896"/>
          </a:xfrm>
          <a:prstGeom prst="roundRect">
            <a:avLst>
              <a:gd name="adj" fmla="val 23529"/>
            </a:avLst>
          </a:prstGeom>
          <a:solidFill>
            <a:srgbClr val="001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381744" y="5353970"/>
            <a:ext cx="1572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证据阅读器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2423160" y="4000658"/>
            <a:ext cx="310896" cy="0"/>
          </a:xfrm>
          <a:prstGeom prst="line">
            <a:avLst/>
          </a:prstGeom>
          <a:noFill/>
          <a:ln w="22860">
            <a:solidFill>
              <a:srgbClr val="23978B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5020056" y="4000658"/>
            <a:ext cx="310896" cy="0"/>
          </a:xfrm>
          <a:prstGeom prst="line">
            <a:avLst/>
          </a:prstGeom>
          <a:noFill/>
          <a:ln w="22860">
            <a:solidFill>
              <a:srgbClr val="23978B"/>
            </a:solidFill>
            <a:prstDash val="solid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8348472" y="4000658"/>
            <a:ext cx="329184" cy="0"/>
          </a:xfrm>
          <a:prstGeom prst="line">
            <a:avLst/>
          </a:prstGeom>
          <a:noFill/>
          <a:ln w="22860">
            <a:solidFill>
              <a:srgbClr val="E8A838"/>
            </a:solidFill>
            <a:prstDash val="solid"/>
            <a:tailEnd type="triangle"/>
          </a:ln>
        </p:spPr>
      </p:sp>
      <p:sp>
        <p:nvSpPr>
          <p:cNvPr id="59" name="Text 56"/>
          <p:cNvSpPr txBox="1"/>
          <p:nvPr/>
        </p:nvSpPr>
        <p:spPr>
          <a:xfrm>
            <a:off x="11247120" y="6473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6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o/OS-Agent/tmp/ppt-analysis/template-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9456"/>
            <a:ext cx="2651760" cy="6035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632" y="94183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57784" y="950976"/>
            <a:ext cx="356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170432" y="850392"/>
            <a:ext cx="1001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创新一：按判断目标组织的多</a:t>
            </a:r>
            <a:r>
              <a:rPr lang="en-US" sz="3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Agent 协作范式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COLLABORATION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721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角色不是按“读取哪类文件”划分，而是按“需要形成何种判断”划分；每个角色只接收与当前问题相关的上下文。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1792" y="1993392"/>
            <a:ext cx="2011680" cy="3346704"/>
          </a:xfrm>
          <a:prstGeom prst="roundRect">
            <a:avLst>
              <a:gd name="adj" fmla="val 3636"/>
            </a:avLst>
          </a:prstGeom>
          <a:solidFill>
            <a:srgbClr val="001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39572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 Agent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923544" y="289864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9D9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动态决定调查顺序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337560"/>
            <a:ext cx="1426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D5E4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新发现可以触发返工、补证或推翻旧结论；不维护固定线性状态机。</a:t>
            </a:r>
            <a:endParaRPr lang="en-US" sz="1140" dirty="0"/>
          </a:p>
        </p:txBody>
      </p:sp>
      <p:sp>
        <p:nvSpPr>
          <p:cNvPr id="12" name="Shape 9"/>
          <p:cNvSpPr/>
          <p:nvPr/>
        </p:nvSpPr>
        <p:spPr>
          <a:xfrm>
            <a:off x="950976" y="4681728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24128" y="4690872"/>
            <a:ext cx="12070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 ≠ 定结论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3127248" y="1993392"/>
            <a:ext cx="2103120" cy="1261872"/>
          </a:xfrm>
          <a:prstGeom prst="roundRect">
            <a:avLst>
              <a:gd name="adj" fmla="val 5797"/>
            </a:avLst>
          </a:prstGeom>
          <a:solidFill>
            <a:srgbClr val="E7F5F3"/>
          </a:solidFill>
          <a:ln w="12700">
            <a:solidFill>
              <a:srgbClr val="C7DA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19272" y="2107377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01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319272" y="2372553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 / </a:t>
            </a:r>
            <a:r>
              <a:rPr lang="en-US" sz="145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r>
              <a:rPr lang="zh-CN" altLang="en-US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</a:t>
            </a:r>
            <a:r>
              <a:rPr lang="en-US" altLang="zh-CN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3319272" y="2733741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主骨架、历史版本、同届方向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5550408" y="1993392"/>
            <a:ext cx="2103120" cy="1261872"/>
          </a:xfrm>
          <a:prstGeom prst="roundRect">
            <a:avLst>
              <a:gd name="adj" fmla="val 5797"/>
            </a:avLst>
          </a:prstGeom>
          <a:solidFill>
            <a:srgbClr val="F1FAF9"/>
          </a:solidFill>
          <a:ln w="12700">
            <a:solidFill>
              <a:srgbClr val="C7DA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33288" y="2099336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02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660136" y="238280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</a:t>
            </a:r>
            <a:r>
              <a:rPr lang="en-US" sz="145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类模块</a:t>
            </a:r>
            <a:r>
              <a:rPr lang="zh-CN" altLang="en-US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</a:t>
            </a:r>
            <a:r>
              <a:rPr lang="en-US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r>
              <a:rPr lang="en-US" altLang="zh-CN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gent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5733288" y="2739731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源码机制、Base 差异、真实工作量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7973568" y="1993392"/>
            <a:ext cx="2103120" cy="1261872"/>
          </a:xfrm>
          <a:prstGeom prst="roundRect">
            <a:avLst>
              <a:gd name="adj" fmla="val 5797"/>
            </a:avLst>
          </a:prstGeom>
          <a:solidFill>
            <a:srgbClr val="F4F8F9"/>
          </a:solidFill>
          <a:ln w="12700">
            <a:solidFill>
              <a:srgbClr val="C7DA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188452" y="2112264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03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188452" y="237744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r>
              <a:rPr lang="en-US" sz="145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历史与</a:t>
            </a:r>
            <a:r>
              <a:rPr lang="zh-CN" altLang="en-US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r>
              <a:rPr lang="en-US" sz="145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r>
              <a:rPr lang="zh-CN" altLang="en-US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评判</a:t>
            </a:r>
            <a:r>
              <a:rPr lang="en-US" altLang="zh-CN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8188452" y="2766060"/>
            <a:ext cx="170078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开发时间线、AI 声明、文档核验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3127248" y="3703320"/>
            <a:ext cx="2103120" cy="1261872"/>
          </a:xfrm>
          <a:prstGeom prst="roundRect">
            <a:avLst>
              <a:gd name="adj" fmla="val 5797"/>
            </a:avLst>
          </a:prstGeom>
          <a:solidFill>
            <a:srgbClr val="FCECEA"/>
          </a:solidFill>
          <a:ln w="12700">
            <a:solidFill>
              <a:srgbClr val="EAB5A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328416" y="3814782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D7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04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3328416" y="4079958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完整性风险</a:t>
            </a:r>
            <a:r>
              <a:rPr lang="zh-CN" altLang="en-US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</a:t>
            </a:r>
            <a:r>
              <a:rPr lang="en-US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r>
              <a:rPr lang="en-US" altLang="zh-CN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gent</a:t>
            </a:r>
            <a:endParaRPr lang="en-US" sz="1450" dirty="0"/>
          </a:p>
        </p:txBody>
      </p:sp>
      <p:sp>
        <p:nvSpPr>
          <p:cNvPr id="29" name="Text 26"/>
          <p:cNvSpPr txBox="1"/>
          <p:nvPr/>
        </p:nvSpPr>
        <p:spPr>
          <a:xfrm>
            <a:off x="3328416" y="450972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测试绕过、虚假输出、提示词注入</a:t>
            </a:r>
            <a:endParaRPr lang="en-US" sz="1040" dirty="0"/>
          </a:p>
        </p:txBody>
      </p:sp>
      <p:sp>
        <p:nvSpPr>
          <p:cNvPr id="30" name="Shape 27"/>
          <p:cNvSpPr/>
          <p:nvPr/>
        </p:nvSpPr>
        <p:spPr>
          <a:xfrm>
            <a:off x="5550408" y="3703320"/>
            <a:ext cx="2103120" cy="1261872"/>
          </a:xfrm>
          <a:prstGeom prst="roundRect">
            <a:avLst>
              <a:gd name="adj" fmla="val 5797"/>
            </a:avLst>
          </a:prstGeom>
          <a:solidFill>
            <a:srgbClr val="FFF5DF"/>
          </a:solidFill>
          <a:ln w="12700">
            <a:solidFill>
              <a:srgbClr val="E6C47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715000" y="3814782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05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5715000" y="4079958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矛盾仲裁Agent</a:t>
            </a:r>
            <a:endParaRPr lang="en-US" sz="1450" dirty="0"/>
          </a:p>
        </p:txBody>
      </p:sp>
      <p:sp>
        <p:nvSpPr>
          <p:cNvPr id="33" name="Text 30"/>
          <p:cNvSpPr txBox="1"/>
          <p:nvPr/>
        </p:nvSpPr>
        <p:spPr>
          <a:xfrm>
            <a:off x="5715000" y="450972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对相反判断裁决或要求补证</a:t>
            </a:r>
            <a:endParaRPr lang="en-US" sz="1040" dirty="0"/>
          </a:p>
        </p:txBody>
      </p:sp>
      <p:sp>
        <p:nvSpPr>
          <p:cNvPr id="34" name="Shape 31"/>
          <p:cNvSpPr/>
          <p:nvPr/>
        </p:nvSpPr>
        <p:spPr>
          <a:xfrm>
            <a:off x="7973568" y="3703320"/>
            <a:ext cx="2103120" cy="1261872"/>
          </a:xfrm>
          <a:prstGeom prst="roundRect">
            <a:avLst>
              <a:gd name="adj" fmla="val 5797"/>
            </a:avLst>
          </a:prstGeom>
          <a:solidFill>
            <a:srgbClr val="E9F6EF"/>
          </a:solidFill>
          <a:ln w="12700">
            <a:solidFill>
              <a:srgbClr val="C7DA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119872" y="3795864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06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8119872" y="406104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报告编辑A</a:t>
            </a:r>
            <a:r>
              <a:rPr lang="en-US" altLang="zh-CN" sz="145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gent</a:t>
            </a:r>
            <a:endParaRPr lang="en-US" sz="1450" dirty="0"/>
          </a:p>
        </p:txBody>
      </p:sp>
      <p:sp>
        <p:nvSpPr>
          <p:cNvPr id="37" name="Text 34"/>
          <p:cNvSpPr txBox="1"/>
          <p:nvPr/>
        </p:nvSpPr>
        <p:spPr>
          <a:xfrm>
            <a:off x="8119872" y="449080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仅消费已确认材料，不创造事实</a:t>
            </a:r>
            <a:endParaRPr lang="en-US" sz="1040" dirty="0"/>
          </a:p>
        </p:txBody>
      </p:sp>
      <p:sp>
        <p:nvSpPr>
          <p:cNvPr id="38" name="Shape 35"/>
          <p:cNvSpPr/>
          <p:nvPr/>
        </p:nvSpPr>
        <p:spPr>
          <a:xfrm flipV="1">
            <a:off x="2651760" y="2679192"/>
            <a:ext cx="448056" cy="960120"/>
          </a:xfrm>
          <a:prstGeom prst="line">
            <a:avLst/>
          </a:prstGeom>
          <a:noFill/>
          <a:ln w="19050">
            <a:solidFill>
              <a:srgbClr val="23978B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2651760" y="3675888"/>
            <a:ext cx="448056" cy="649224"/>
          </a:xfrm>
          <a:prstGeom prst="line">
            <a:avLst/>
          </a:prstGeom>
          <a:noFill/>
          <a:ln w="19050">
            <a:solidFill>
              <a:srgbClr val="D75A4A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5257800" y="2596896"/>
            <a:ext cx="237744" cy="0"/>
          </a:xfrm>
          <a:prstGeom prst="line">
            <a:avLst/>
          </a:prstGeom>
          <a:noFill/>
          <a:ln w="15240">
            <a:solidFill>
              <a:srgbClr val="D7E4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680960" y="2624328"/>
            <a:ext cx="237744" cy="0"/>
          </a:xfrm>
          <a:prstGeom prst="line">
            <a:avLst/>
          </a:prstGeom>
          <a:noFill/>
          <a:ln w="15240">
            <a:solidFill>
              <a:srgbClr val="D7E4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257800" y="4325112"/>
            <a:ext cx="256032" cy="0"/>
          </a:xfrm>
          <a:prstGeom prst="line">
            <a:avLst/>
          </a:prstGeom>
          <a:noFill/>
          <a:ln w="19050">
            <a:solidFill>
              <a:srgbClr val="E8A838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7680960" y="4325112"/>
            <a:ext cx="256032" cy="0"/>
          </a:xfrm>
          <a:prstGeom prst="line">
            <a:avLst/>
          </a:prstGeom>
          <a:noFill/>
          <a:ln w="19050">
            <a:solidFill>
              <a:srgbClr val="3D9E6F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10424160" y="1993392"/>
            <a:ext cx="1188720" cy="29718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0588752" y="2240280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上下文约束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10607040" y="2770632"/>
            <a:ext cx="832104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0680192" y="2779776"/>
            <a:ext cx="685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明确问题</a:t>
            </a:r>
            <a:endParaRPr lang="en-US" sz="970" dirty="0"/>
          </a:p>
        </p:txBody>
      </p:sp>
      <p:sp>
        <p:nvSpPr>
          <p:cNvPr id="48" name="Shape 45"/>
          <p:cNvSpPr/>
          <p:nvPr/>
        </p:nvSpPr>
        <p:spPr>
          <a:xfrm>
            <a:off x="10607040" y="3273552"/>
            <a:ext cx="832104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10680192" y="3282696"/>
            <a:ext cx="685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允许材料</a:t>
            </a:r>
            <a:endParaRPr lang="en-US" sz="970" dirty="0"/>
          </a:p>
        </p:txBody>
      </p:sp>
      <p:sp>
        <p:nvSpPr>
          <p:cNvPr id="50" name="Shape 47"/>
          <p:cNvSpPr/>
          <p:nvPr/>
        </p:nvSpPr>
        <p:spPr>
          <a:xfrm>
            <a:off x="10607040" y="3776472"/>
            <a:ext cx="832104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10680192" y="3785616"/>
            <a:ext cx="685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相关证据</a:t>
            </a:r>
            <a:endParaRPr lang="en-US" sz="970" dirty="0"/>
          </a:p>
        </p:txBody>
      </p:sp>
      <p:sp>
        <p:nvSpPr>
          <p:cNvPr id="52" name="Shape 49"/>
          <p:cNvSpPr/>
          <p:nvPr/>
        </p:nvSpPr>
        <p:spPr>
          <a:xfrm>
            <a:off x="10607040" y="4279392"/>
            <a:ext cx="832104" cy="310896"/>
          </a:xfrm>
          <a:prstGeom prst="roundRect">
            <a:avLst>
              <a:gd name="adj" fmla="val 23529"/>
            </a:avLst>
          </a:prstGeom>
          <a:solidFill>
            <a:srgbClr val="001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0680192" y="4288536"/>
            <a:ext cx="685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唯一输出</a:t>
            </a:r>
            <a:endParaRPr lang="en-US" sz="970" dirty="0"/>
          </a:p>
        </p:txBody>
      </p:sp>
      <p:sp>
        <p:nvSpPr>
          <p:cNvPr id="54" name="Shape 51"/>
          <p:cNvSpPr/>
          <p:nvPr/>
        </p:nvSpPr>
        <p:spPr>
          <a:xfrm>
            <a:off x="3255264" y="5486400"/>
            <a:ext cx="7452360" cy="566928"/>
          </a:xfrm>
          <a:prstGeom prst="roundRect">
            <a:avLst>
              <a:gd name="adj" fmla="val 12903"/>
            </a:avLst>
          </a:prstGeom>
          <a:solidFill>
            <a:srgbClr val="001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3502152" y="5623560"/>
            <a:ext cx="6967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范式要点：有限上下文 + 角色专属判断 + 可返工协作 + 独立仲裁，而非自由辩论。</a:t>
            </a:r>
            <a:endParaRPr lang="en-US" sz="1320" dirty="0"/>
          </a:p>
        </p:txBody>
      </p:sp>
      <p:sp>
        <p:nvSpPr>
          <p:cNvPr id="57" name="Text 54"/>
          <p:cNvSpPr txBox="1"/>
          <p:nvPr/>
        </p:nvSpPr>
        <p:spPr>
          <a:xfrm>
            <a:off x="11247120" y="6473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6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o/OS-Agent/tmp/ppt-analysis/template-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9456"/>
            <a:ext cx="2651760" cy="6035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632" y="94183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57784" y="950976"/>
            <a:ext cx="356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170432" y="850392"/>
            <a:ext cx="1001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创新二：多源证据推理与结论修正机制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FALSIFIABILITY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721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每项判断都由源码、Git、文档和指纹等多类证据共同形成；证据不足时限定范围，出现反证时重新复核。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1975104"/>
            <a:ext cx="2304288" cy="585216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103120"/>
            <a:ext cx="484632" cy="310896"/>
          </a:xfrm>
          <a:prstGeom prst="roundRect">
            <a:avLst>
              <a:gd name="adj" fmla="val 23529"/>
            </a:avLst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0392" y="2112264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389888" y="205740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源码实现</a:t>
            </a:r>
            <a:endParaRPr lang="en-US" sz="1230" dirty="0"/>
          </a:p>
        </p:txBody>
      </p:sp>
      <p:sp>
        <p:nvSpPr>
          <p:cNvPr id="12" name="Text 9"/>
          <p:cNvSpPr txBox="1"/>
          <p:nvPr/>
        </p:nvSpPr>
        <p:spPr>
          <a:xfrm>
            <a:off x="1389888" y="228600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/ 状态 / 调用链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640080" y="2724912"/>
            <a:ext cx="2304288" cy="585216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2852928"/>
            <a:ext cx="484632" cy="310896"/>
          </a:xfrm>
          <a:prstGeom prst="roundRect">
            <a:avLst>
              <a:gd name="adj" fmla="val 23529"/>
            </a:avLst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0392" y="2862072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389888" y="280720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历史</a:t>
            </a:r>
            <a:endParaRPr lang="en-US" sz="1230" dirty="0"/>
          </a:p>
        </p:txBody>
      </p:sp>
      <p:sp>
        <p:nvSpPr>
          <p:cNvPr id="17" name="Text 14"/>
          <p:cNvSpPr txBox="1"/>
          <p:nvPr/>
        </p:nvSpPr>
        <p:spPr>
          <a:xfrm>
            <a:off x="1389888" y="3035808"/>
            <a:ext cx="1323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commit / parent / 时间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640080" y="3474720"/>
            <a:ext cx="2304288" cy="585216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" y="3602736"/>
            <a:ext cx="484632" cy="310896"/>
          </a:xfrm>
          <a:prstGeom prst="roundRect">
            <a:avLst>
              <a:gd name="adj" fmla="val 23529"/>
            </a:avLst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0392" y="3611880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389888" y="355701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设计文档</a:t>
            </a:r>
            <a:endParaRPr lang="en-US" sz="1230" dirty="0"/>
          </a:p>
        </p:txBody>
      </p:sp>
      <p:sp>
        <p:nvSpPr>
          <p:cNvPr id="22" name="Text 19"/>
          <p:cNvSpPr txBox="1"/>
          <p:nvPr/>
        </p:nvSpPr>
        <p:spPr>
          <a:xfrm>
            <a:off x="1389888" y="378561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 / 页码 / </a:t>
            </a:r>
            <a:r>
              <a:rPr lang="en-US" sz="930" dirty="0" err="1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文件哈希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640080" y="4224528"/>
            <a:ext cx="2304288" cy="585216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7240" y="4352544"/>
            <a:ext cx="484632" cy="310896"/>
          </a:xfrm>
          <a:prstGeom prst="roundRect">
            <a:avLst>
              <a:gd name="adj" fmla="val 23529"/>
            </a:avLst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0392" y="4361688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1389888" y="430682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Blob / AST</a:t>
            </a:r>
            <a:endParaRPr lang="en-US" sz="1230" dirty="0"/>
          </a:p>
        </p:txBody>
      </p:sp>
      <p:sp>
        <p:nvSpPr>
          <p:cNvPr id="27" name="Text 24"/>
          <p:cNvSpPr txBox="1"/>
          <p:nvPr/>
        </p:nvSpPr>
        <p:spPr>
          <a:xfrm>
            <a:off x="1389888" y="453542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 err="1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相同内容</a:t>
            </a:r>
            <a:r>
              <a:rPr lang="en-US" sz="93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</a:t>
            </a:r>
            <a:r>
              <a:rPr lang="zh-CN" altLang="en-US" sz="93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</a:t>
            </a:r>
            <a:r>
              <a:rPr lang="en-US" sz="930" dirty="0" err="1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结构对应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640080" y="4974336"/>
            <a:ext cx="2304288" cy="585216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7240" y="5102352"/>
            <a:ext cx="484632" cy="310896"/>
          </a:xfrm>
          <a:prstGeom prst="roundRect">
            <a:avLst>
              <a:gd name="adj" fmla="val 23529"/>
            </a:avLst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50392" y="5111496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E5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1389888" y="50566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外部来源</a:t>
            </a:r>
            <a:endParaRPr lang="en-US" sz="1230" dirty="0"/>
          </a:p>
        </p:txBody>
      </p:sp>
      <p:sp>
        <p:nvSpPr>
          <p:cNvPr id="32" name="Text 29"/>
          <p:cNvSpPr txBox="1"/>
          <p:nvPr/>
        </p:nvSpPr>
        <p:spPr>
          <a:xfrm>
            <a:off x="1389888" y="528523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上游版本 / 发布时间</a:t>
            </a:r>
            <a:endParaRPr lang="en-US" sz="930" dirty="0"/>
          </a:p>
        </p:txBody>
      </p:sp>
      <p:sp>
        <p:nvSpPr>
          <p:cNvPr id="33" name="Shape 30"/>
          <p:cNvSpPr/>
          <p:nvPr/>
        </p:nvSpPr>
        <p:spPr>
          <a:xfrm>
            <a:off x="4158746" y="2057400"/>
            <a:ext cx="2359152" cy="914400"/>
          </a:xfrm>
          <a:prstGeom prst="roundRect">
            <a:avLst>
              <a:gd name="adj" fmla="val 8000"/>
            </a:avLst>
          </a:prstGeom>
          <a:solidFill>
            <a:srgbClr val="E7F5F3"/>
          </a:solidFill>
          <a:ln w="12700">
            <a:solidFill>
              <a:srgbClr val="ABD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297680" y="2212848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C₁ · Base 与来源</a:t>
            </a:r>
            <a:endParaRPr lang="en-US" sz="1450" dirty="0"/>
          </a:p>
        </p:txBody>
      </p:sp>
      <p:sp>
        <p:nvSpPr>
          <p:cNvPr id="35" name="Text 32"/>
          <p:cNvSpPr txBox="1"/>
          <p:nvPr/>
        </p:nvSpPr>
        <p:spPr>
          <a:xfrm>
            <a:off x="4261104" y="2523744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来源明确 / 无可靠 Base / 待复核</a:t>
            </a:r>
            <a:endParaRPr lang="en-US" sz="1030" dirty="0"/>
          </a:p>
        </p:txBody>
      </p:sp>
      <p:sp>
        <p:nvSpPr>
          <p:cNvPr id="36" name="Shape 33"/>
          <p:cNvSpPr/>
          <p:nvPr/>
        </p:nvSpPr>
        <p:spPr>
          <a:xfrm>
            <a:off x="4151376" y="3410712"/>
            <a:ext cx="2359152" cy="914400"/>
          </a:xfrm>
          <a:prstGeom prst="roundRect">
            <a:avLst>
              <a:gd name="adj" fmla="val 8000"/>
            </a:avLst>
          </a:prstGeom>
          <a:solidFill>
            <a:srgbClr val="FFF5DF"/>
          </a:solidFill>
          <a:ln w="12700">
            <a:solidFill>
              <a:srgbClr val="E6C57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233672" y="3538728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C₂ · 真实工作量</a:t>
            </a:r>
            <a:endParaRPr lang="en-US" sz="1450" dirty="0"/>
          </a:p>
        </p:txBody>
      </p:sp>
      <p:sp>
        <p:nvSpPr>
          <p:cNvPr id="38" name="Text 35"/>
          <p:cNvSpPr txBox="1"/>
          <p:nvPr/>
        </p:nvSpPr>
        <p:spPr>
          <a:xfrm>
            <a:off x="4224528" y="3919091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 / 适配 / 改写 / 新增</a:t>
            </a:r>
            <a:endParaRPr lang="en-US" sz="1030" dirty="0"/>
          </a:p>
        </p:txBody>
      </p:sp>
      <p:sp>
        <p:nvSpPr>
          <p:cNvPr id="39" name="Shape 36"/>
          <p:cNvSpPr/>
          <p:nvPr/>
        </p:nvSpPr>
        <p:spPr>
          <a:xfrm>
            <a:off x="4151376" y="4718304"/>
            <a:ext cx="2359152" cy="914400"/>
          </a:xfrm>
          <a:prstGeom prst="roundRect">
            <a:avLst>
              <a:gd name="adj" fmla="val 8000"/>
            </a:avLst>
          </a:prstGeom>
          <a:solidFill>
            <a:srgbClr val="FCECEA"/>
          </a:solidFill>
          <a:ln w="12700">
            <a:solidFill>
              <a:srgbClr val="E5B0A9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228622" y="4864608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7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C₃ · 完整性风险</a:t>
            </a:r>
            <a:endParaRPr lang="en-US" sz="1450" dirty="0"/>
          </a:p>
        </p:txBody>
      </p:sp>
      <p:sp>
        <p:nvSpPr>
          <p:cNvPr id="41" name="Text 38"/>
          <p:cNvSpPr txBox="1"/>
          <p:nvPr/>
        </p:nvSpPr>
        <p:spPr>
          <a:xfrm>
            <a:off x="4206240" y="5207508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发现风险 / 未发现 / 需限定</a:t>
            </a:r>
            <a:endParaRPr lang="en-US" sz="1030" dirty="0"/>
          </a:p>
        </p:txBody>
      </p:sp>
      <p:sp>
        <p:nvSpPr>
          <p:cNvPr id="42" name="Shape 39"/>
          <p:cNvSpPr/>
          <p:nvPr/>
        </p:nvSpPr>
        <p:spPr>
          <a:xfrm>
            <a:off x="2944368" y="2286000"/>
            <a:ext cx="1143000" cy="146304"/>
          </a:xfrm>
          <a:prstGeom prst="line">
            <a:avLst/>
          </a:prstGeom>
          <a:noFill/>
          <a:ln w="17780">
            <a:solidFill>
              <a:srgbClr val="527181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 flipV="1">
            <a:off x="2944368" y="2596896"/>
            <a:ext cx="1170432" cy="429768"/>
          </a:xfrm>
          <a:prstGeom prst="line">
            <a:avLst/>
          </a:prstGeom>
          <a:noFill/>
          <a:ln w="17780">
            <a:solidFill>
              <a:srgbClr val="527181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2944368" y="3776472"/>
            <a:ext cx="1143000" cy="73152"/>
          </a:xfrm>
          <a:prstGeom prst="line">
            <a:avLst/>
          </a:prstGeom>
          <a:noFill/>
          <a:ln w="17780">
            <a:solidFill>
              <a:srgbClr val="527181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 flipV="1">
            <a:off x="2944368" y="3968496"/>
            <a:ext cx="1170432" cy="548640"/>
          </a:xfrm>
          <a:prstGeom prst="line">
            <a:avLst/>
          </a:prstGeom>
          <a:noFill/>
          <a:ln w="17780">
            <a:solidFill>
              <a:srgbClr val="527181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 flipV="1">
            <a:off x="2944368" y="5207508"/>
            <a:ext cx="1188720" cy="50292"/>
          </a:xfrm>
          <a:prstGeom prst="line">
            <a:avLst/>
          </a:prstGeom>
          <a:noFill/>
          <a:ln w="17780">
            <a:solidFill>
              <a:srgbClr val="527181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4315968" y="5843016"/>
            <a:ext cx="768096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389120" y="5852160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多源支撑</a:t>
            </a:r>
            <a:endParaRPr lang="en-US" sz="920" dirty="0"/>
          </a:p>
        </p:txBody>
      </p:sp>
      <p:sp>
        <p:nvSpPr>
          <p:cNvPr id="49" name="Shape 46"/>
          <p:cNvSpPr/>
          <p:nvPr/>
        </p:nvSpPr>
        <p:spPr>
          <a:xfrm>
            <a:off x="5175504" y="5843016"/>
            <a:ext cx="768096" cy="310896"/>
          </a:xfrm>
          <a:prstGeom prst="roundRect">
            <a:avLst>
              <a:gd name="adj" fmla="val 23529"/>
            </a:avLst>
          </a:prstGeom>
          <a:solidFill>
            <a:srgbClr val="FFF5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248656" y="5852160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明确限定</a:t>
            </a:r>
            <a:endParaRPr lang="en-US" sz="920" dirty="0"/>
          </a:p>
        </p:txBody>
      </p:sp>
      <p:sp>
        <p:nvSpPr>
          <p:cNvPr id="51" name="Shape 48"/>
          <p:cNvSpPr/>
          <p:nvPr/>
        </p:nvSpPr>
        <p:spPr>
          <a:xfrm>
            <a:off x="6035040" y="5843016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FCEC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108192" y="5852160"/>
            <a:ext cx="5120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7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反证复核</a:t>
            </a:r>
            <a:endParaRPr lang="en-US" sz="920" dirty="0"/>
          </a:p>
        </p:txBody>
      </p:sp>
      <p:sp>
        <p:nvSpPr>
          <p:cNvPr id="53" name="Shape 50"/>
          <p:cNvSpPr/>
          <p:nvPr/>
        </p:nvSpPr>
        <p:spPr>
          <a:xfrm>
            <a:off x="7132320" y="1975104"/>
            <a:ext cx="4434840" cy="4096512"/>
          </a:xfrm>
          <a:prstGeom prst="roundRect">
            <a:avLst>
              <a:gd name="adj" fmla="val 1786"/>
            </a:avLst>
          </a:prstGeom>
          <a:solidFill>
            <a:srgbClr val="001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452360" y="226771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结论如何形成和修正</a:t>
            </a:r>
            <a:endParaRPr lang="en-US" sz="1900" dirty="0"/>
          </a:p>
        </p:txBody>
      </p:sp>
      <p:sp>
        <p:nvSpPr>
          <p:cNvPr id="55" name="Shape 52"/>
          <p:cNvSpPr/>
          <p:nvPr/>
        </p:nvSpPr>
        <p:spPr>
          <a:xfrm>
            <a:off x="7452360" y="2816352"/>
            <a:ext cx="384048" cy="384048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45236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7973568" y="2798064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形成带条件的判断</a:t>
            </a:r>
            <a:endParaRPr lang="en-US" sz="1270" dirty="0"/>
          </a:p>
        </p:txBody>
      </p:sp>
      <p:sp>
        <p:nvSpPr>
          <p:cNvPr id="58" name="Text 55"/>
          <p:cNvSpPr txBox="1"/>
          <p:nvPr/>
        </p:nvSpPr>
        <p:spPr>
          <a:xfrm>
            <a:off x="9491472" y="2798064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B7CD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证据不足时标记为待复核</a:t>
            </a:r>
            <a:endParaRPr lang="en-US" sz="980" dirty="0"/>
          </a:p>
        </p:txBody>
      </p:sp>
      <p:sp>
        <p:nvSpPr>
          <p:cNvPr id="59" name="Shape 56"/>
          <p:cNvSpPr/>
          <p:nvPr/>
        </p:nvSpPr>
        <p:spPr>
          <a:xfrm>
            <a:off x="7644384" y="3209544"/>
            <a:ext cx="0" cy="256032"/>
          </a:xfrm>
          <a:prstGeom prst="line">
            <a:avLst/>
          </a:prstGeom>
          <a:noFill/>
          <a:ln w="13970">
            <a:solidFill>
              <a:srgbClr val="52718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452360" y="3529584"/>
            <a:ext cx="384048" cy="384048"/>
          </a:xfrm>
          <a:prstGeom prst="ellipse">
            <a:avLst/>
          </a:prstGeom>
          <a:solidFill>
            <a:srgbClr val="D75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45236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7973568" y="351129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新证据与原判断冲突</a:t>
            </a:r>
            <a:endParaRPr lang="en-US" sz="1270" dirty="0"/>
          </a:p>
        </p:txBody>
      </p:sp>
      <p:sp>
        <p:nvSpPr>
          <p:cNvPr id="63" name="Text 60"/>
          <p:cNvSpPr txBox="1"/>
          <p:nvPr/>
        </p:nvSpPr>
        <p:spPr>
          <a:xfrm>
            <a:off x="9491472" y="3511296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B7CD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源码、历史或文档都可能提供反证</a:t>
            </a:r>
            <a:endParaRPr lang="en-US" sz="980" dirty="0"/>
          </a:p>
        </p:txBody>
      </p:sp>
      <p:sp>
        <p:nvSpPr>
          <p:cNvPr id="64" name="Shape 61"/>
          <p:cNvSpPr/>
          <p:nvPr/>
        </p:nvSpPr>
        <p:spPr>
          <a:xfrm>
            <a:off x="7644384" y="3922776"/>
            <a:ext cx="0" cy="256032"/>
          </a:xfrm>
          <a:prstGeom prst="line">
            <a:avLst/>
          </a:prstGeom>
          <a:noFill/>
          <a:ln w="13970">
            <a:solidFill>
              <a:srgbClr val="52718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452360" y="4242816"/>
            <a:ext cx="384048" cy="384048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745236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67" name="Text 64"/>
          <p:cNvSpPr txBox="1"/>
          <p:nvPr/>
        </p:nvSpPr>
        <p:spPr>
          <a:xfrm>
            <a:off x="7973568" y="4224528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独立复核</a:t>
            </a:r>
            <a:endParaRPr lang="en-US" sz="1270" dirty="0"/>
          </a:p>
        </p:txBody>
      </p:sp>
      <p:sp>
        <p:nvSpPr>
          <p:cNvPr id="68" name="Text 65"/>
          <p:cNvSpPr txBox="1"/>
          <p:nvPr/>
        </p:nvSpPr>
        <p:spPr>
          <a:xfrm>
            <a:off x="9491472" y="4224528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B7CD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确认、改判、补证，或暂不下结论</a:t>
            </a:r>
            <a:endParaRPr lang="en-US" sz="980" dirty="0"/>
          </a:p>
        </p:txBody>
      </p:sp>
      <p:sp>
        <p:nvSpPr>
          <p:cNvPr id="69" name="Shape 66"/>
          <p:cNvSpPr/>
          <p:nvPr/>
        </p:nvSpPr>
        <p:spPr>
          <a:xfrm>
            <a:off x="7644384" y="4636008"/>
            <a:ext cx="0" cy="256032"/>
          </a:xfrm>
          <a:prstGeom prst="line">
            <a:avLst/>
          </a:prstGeom>
          <a:noFill/>
          <a:ln w="13970">
            <a:solidFill>
              <a:srgbClr val="527181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452360" y="4956048"/>
            <a:ext cx="384048" cy="38404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745236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72" name="Text 69"/>
          <p:cNvSpPr txBox="1"/>
          <p:nvPr/>
        </p:nvSpPr>
        <p:spPr>
          <a:xfrm>
            <a:off x="7973568" y="493776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证据材料发生变化</a:t>
            </a:r>
            <a:endParaRPr lang="en-US" sz="1270" dirty="0"/>
          </a:p>
        </p:txBody>
      </p:sp>
      <p:sp>
        <p:nvSpPr>
          <p:cNvPr id="73" name="Text 70"/>
          <p:cNvSpPr txBox="1"/>
          <p:nvPr/>
        </p:nvSpPr>
        <p:spPr>
          <a:xfrm>
            <a:off x="9491472" y="4937760"/>
            <a:ext cx="178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B7CD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原复核结果失效，必须重新检查</a:t>
            </a:r>
            <a:endParaRPr lang="en-US" sz="980" dirty="0"/>
          </a:p>
        </p:txBody>
      </p:sp>
      <p:sp>
        <p:nvSpPr>
          <p:cNvPr id="74" name="Shape 71"/>
          <p:cNvSpPr/>
          <p:nvPr/>
        </p:nvSpPr>
        <p:spPr>
          <a:xfrm>
            <a:off x="7452360" y="5650992"/>
            <a:ext cx="3703320" cy="256032"/>
          </a:xfrm>
          <a:prstGeom prst="roundRect">
            <a:avLst>
              <a:gd name="adj" fmla="val 28571"/>
            </a:avLst>
          </a:prstGeom>
          <a:solidFill>
            <a:srgbClr val="1738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616952" y="565099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DD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更强证据出现时，已有结论必须允许改判。</a:t>
            </a:r>
            <a:endParaRPr lang="en-US" sz="1050" dirty="0"/>
          </a:p>
        </p:txBody>
      </p:sp>
      <p:sp>
        <p:nvSpPr>
          <p:cNvPr id="77" name="Text 74"/>
          <p:cNvSpPr txBox="1"/>
          <p:nvPr/>
        </p:nvSpPr>
        <p:spPr>
          <a:xfrm>
            <a:off x="11247120" y="6473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6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79" name="Shape 40">
            <a:extLst>
              <a:ext uri="{FF2B5EF4-FFF2-40B4-BE49-F238E27FC236}">
                <a16:creationId xmlns:a16="http://schemas.microsoft.com/office/drawing/2014/main" id="{C64F6A5B-78A4-EB90-435C-A4DC85CD028B}"/>
              </a:ext>
            </a:extLst>
          </p:cNvPr>
          <p:cNvSpPr/>
          <p:nvPr/>
        </p:nvSpPr>
        <p:spPr>
          <a:xfrm>
            <a:off x="2944368" y="3054096"/>
            <a:ext cx="1143000" cy="694944"/>
          </a:xfrm>
          <a:prstGeom prst="line">
            <a:avLst/>
          </a:prstGeom>
          <a:noFill/>
          <a:ln w="17780">
            <a:solidFill>
              <a:srgbClr val="527181"/>
            </a:solidFill>
            <a:prstDash val="solid"/>
            <a:tailEnd type="triangle"/>
          </a:ln>
        </p:spPr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B30A7B67-780C-E198-9399-D751751DCACD}"/>
              </a:ext>
            </a:extLst>
          </p:cNvPr>
          <p:cNvCxnSpPr>
            <a:cxnSpLocks/>
            <a:stCxn id="43" idx="0"/>
          </p:cNvCxnSpPr>
          <p:nvPr/>
        </p:nvCxnSpPr>
        <p:spPr>
          <a:xfrm>
            <a:off x="2944368" y="3026664"/>
            <a:ext cx="1188720" cy="2180844"/>
          </a:xfrm>
          <a:prstGeom prst="straightConnector1">
            <a:avLst/>
          </a:prstGeom>
          <a:noFill/>
          <a:ln w="17780">
            <a:solidFill>
              <a:srgbClr val="527181"/>
            </a:solidFill>
            <a:prstDash val="solid"/>
            <a:tailEnd type="triangle"/>
          </a:ln>
        </p:spPr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B4FE3761-C091-793F-842E-22B29BE55E32}"/>
              </a:ext>
            </a:extLst>
          </p:cNvPr>
          <p:cNvCxnSpPr>
            <a:cxnSpLocks/>
            <a:stCxn id="23" idx="3"/>
            <a:endCxn id="46" idx="1"/>
          </p:cNvCxnSpPr>
          <p:nvPr/>
        </p:nvCxnSpPr>
        <p:spPr>
          <a:xfrm>
            <a:off x="2944368" y="4517136"/>
            <a:ext cx="1188720" cy="690372"/>
          </a:xfrm>
          <a:prstGeom prst="straightConnector1">
            <a:avLst/>
          </a:prstGeom>
          <a:noFill/>
          <a:ln w="17780">
            <a:solidFill>
              <a:srgbClr val="527181"/>
            </a:solidFill>
            <a:prstDash val="solid"/>
            <a:tailEnd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o/OS-Agent/tmp/ppt-analysis/template-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9456"/>
            <a:ext cx="2651760" cy="6035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632" y="94183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57784" y="950976"/>
            <a:ext cx="356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170432" y="850392"/>
            <a:ext cx="1001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创新三：Base</a:t>
            </a:r>
            <a:r>
              <a:rPr lang="en-US" sz="3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追溯与同届传播方向推理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INFERENCE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721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 不是“最高相似候选”的别名；方向判断需要共同来源扣除、版本链和结构—时间一致的证据链。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1792" y="1984248"/>
            <a:ext cx="6510528" cy="3913632"/>
          </a:xfrm>
          <a:prstGeom prst="roundRect">
            <a:avLst>
              <a:gd name="adj" fmla="val 1869"/>
            </a:avLst>
          </a:prstGeom>
          <a:solidFill>
            <a:srgbClr val="F4F8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6112" y="222199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同届三方比较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87552" y="2788920"/>
            <a:ext cx="1691640" cy="841248"/>
          </a:xfrm>
          <a:prstGeom prst="roundRect">
            <a:avLst>
              <a:gd name="adj" fmla="val 8696"/>
            </a:avLst>
          </a:prstGeom>
          <a:solidFill>
            <a:srgbClr val="E7F5F3"/>
          </a:solidFill>
          <a:ln w="12700">
            <a:solidFill>
              <a:srgbClr val="A8D6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33856" y="289864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同届作品 A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3209544"/>
            <a:ext cx="1472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锁定提交 tA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5010912" y="2788920"/>
            <a:ext cx="1691640" cy="841248"/>
          </a:xfrm>
          <a:prstGeom prst="roundRect">
            <a:avLst>
              <a:gd name="adj" fmla="val 8696"/>
            </a:avLst>
          </a:prstGeom>
          <a:solidFill>
            <a:srgbClr val="E7F5F3"/>
          </a:solidFill>
          <a:ln w="12700">
            <a:solidFill>
              <a:srgbClr val="A8D6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57216" y="289864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同届作品 B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5120640" y="3209544"/>
            <a:ext cx="1472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锁定提交 tB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987552" y="461772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33856" y="472744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 BA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5038344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commit</a:t>
            </a:r>
            <a:endParaRPr lang="en-US" sz="1030" dirty="0"/>
          </a:p>
        </p:txBody>
      </p:sp>
      <p:sp>
        <p:nvSpPr>
          <p:cNvPr id="19" name="Shape 16"/>
          <p:cNvSpPr/>
          <p:nvPr/>
        </p:nvSpPr>
        <p:spPr>
          <a:xfrm>
            <a:off x="5010912" y="461772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57216" y="4727448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 BB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5120640" y="5038344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commit</a:t>
            </a:r>
            <a:endParaRPr lang="en-US" sz="1030" dirty="0"/>
          </a:p>
        </p:txBody>
      </p:sp>
      <p:sp>
        <p:nvSpPr>
          <p:cNvPr id="22" name="Shape 19"/>
          <p:cNvSpPr/>
          <p:nvPr/>
        </p:nvSpPr>
        <p:spPr>
          <a:xfrm flipV="1">
            <a:off x="1828800" y="3685032"/>
            <a:ext cx="0" cy="841248"/>
          </a:xfrm>
          <a:prstGeom prst="line">
            <a:avLst/>
          </a:prstGeom>
          <a:noFill/>
          <a:ln w="20320">
            <a:solidFill>
              <a:srgbClr val="23978B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 flipV="1">
            <a:off x="5852160" y="3657600"/>
            <a:ext cx="0" cy="868680"/>
          </a:xfrm>
          <a:prstGeom prst="line">
            <a:avLst/>
          </a:prstGeom>
          <a:noFill/>
          <a:ln w="20320">
            <a:solidFill>
              <a:srgbClr val="23978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2770632" y="3209544"/>
            <a:ext cx="2148840" cy="0"/>
          </a:xfrm>
          <a:prstGeom prst="line">
            <a:avLst/>
          </a:prstGeom>
          <a:noFill/>
          <a:ln w="25400">
            <a:solidFill>
              <a:srgbClr val="E8A83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962656" y="3008376"/>
            <a:ext cx="1764792" cy="310896"/>
          </a:xfrm>
          <a:prstGeom prst="roundRect">
            <a:avLst>
              <a:gd name="adj" fmla="val 23529"/>
            </a:avLst>
          </a:prstGeom>
          <a:solidFill>
            <a:srgbClr val="FFF5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035808" y="3017520"/>
            <a:ext cx="1618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学生核心残差比较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2350008" y="3922776"/>
            <a:ext cx="2999232" cy="457200"/>
          </a:xfrm>
          <a:prstGeom prst="roundRect">
            <a:avLst>
              <a:gd name="adj" fmla="val 16000"/>
            </a:avLst>
          </a:prstGeom>
          <a:solidFill>
            <a:srgbClr val="001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496312" y="4014216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D(X|Bₓ) = Core(X) − Inherited − External</a:t>
            </a:r>
            <a:endParaRPr lang="en-US" sz="1220" dirty="0"/>
          </a:p>
        </p:txBody>
      </p:sp>
      <p:sp>
        <p:nvSpPr>
          <p:cNvPr id="29" name="Text 26"/>
          <p:cNvSpPr txBox="1"/>
          <p:nvPr/>
        </p:nvSpPr>
        <p:spPr>
          <a:xfrm>
            <a:off x="950976" y="5532120"/>
            <a:ext cx="582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先分别解释 A←BA、B←BB，再比较扣除共同 Base、第三方与测试载荷后的学生核心。</a:t>
            </a:r>
            <a:endParaRPr lang="en-US" sz="1080" dirty="0"/>
          </a:p>
        </p:txBody>
      </p:sp>
      <p:sp>
        <p:nvSpPr>
          <p:cNvPr id="30" name="Text 27"/>
          <p:cNvSpPr txBox="1"/>
          <p:nvPr/>
        </p:nvSpPr>
        <p:spPr>
          <a:xfrm>
            <a:off x="7571232" y="2221992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明确方向需要四段证据链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7571232" y="2779776"/>
            <a:ext cx="393192" cy="393192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571232" y="2779776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055863" y="282549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来源作品连续开发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9701784" y="284039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核心实现从初建到迭代完善，而非整批出现</a:t>
            </a:r>
            <a:endParaRPr lang="en-US" sz="960" dirty="0"/>
          </a:p>
        </p:txBody>
      </p:sp>
      <p:sp>
        <p:nvSpPr>
          <p:cNvPr id="35" name="Shape 32"/>
          <p:cNvSpPr/>
          <p:nvPr/>
        </p:nvSpPr>
        <p:spPr>
          <a:xfrm>
            <a:off x="7571232" y="3529584"/>
            <a:ext cx="393192" cy="393192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571232" y="352958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055863" y="357987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目标作品较晚批量引入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9747503" y="357530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parent 中不存在，对应 commit 对可复核</a:t>
            </a:r>
            <a:endParaRPr lang="en-US" sz="960" dirty="0"/>
          </a:p>
        </p:txBody>
      </p:sp>
      <p:sp>
        <p:nvSpPr>
          <p:cNvPr id="39" name="Shape 36"/>
          <p:cNvSpPr/>
          <p:nvPr/>
        </p:nvSpPr>
        <p:spPr>
          <a:xfrm>
            <a:off x="7571232" y="4279392"/>
            <a:ext cx="393192" cy="393192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571232" y="4279392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101584" y="4338828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保留来源专属残留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9656063" y="4346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项目名、路径、命名或配置可追到来源历史</a:t>
            </a:r>
            <a:endParaRPr lang="en-US" sz="960" dirty="0"/>
          </a:p>
        </p:txBody>
      </p:sp>
      <p:sp>
        <p:nvSpPr>
          <p:cNvPr id="43" name="Shape 40"/>
          <p:cNvSpPr/>
          <p:nvPr/>
        </p:nvSpPr>
        <p:spPr>
          <a:xfrm>
            <a:off x="7571232" y="5029200"/>
            <a:ext cx="393192" cy="39319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571232" y="5029200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8101584" y="510235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排除更早共同来源</a:t>
            </a:r>
            <a:endParaRPr lang="en-US" sz="1250" dirty="0"/>
          </a:p>
        </p:txBody>
      </p:sp>
      <p:sp>
        <p:nvSpPr>
          <p:cNvPr id="46" name="Text 43"/>
          <p:cNvSpPr txBox="1"/>
          <p:nvPr/>
        </p:nvSpPr>
        <p:spPr>
          <a:xfrm>
            <a:off x="9656063" y="508327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 Base、第三方、测试与生成物不能解释</a:t>
            </a:r>
            <a:endParaRPr lang="en-US" sz="960" dirty="0"/>
          </a:p>
        </p:txBody>
      </p:sp>
      <p:sp>
        <p:nvSpPr>
          <p:cNvPr id="47" name="Shape 44"/>
          <p:cNvSpPr/>
          <p:nvPr/>
        </p:nvSpPr>
        <p:spPr>
          <a:xfrm>
            <a:off x="7571232" y="5815584"/>
            <a:ext cx="3785616" cy="384048"/>
          </a:xfrm>
          <a:prstGeom prst="roundRect">
            <a:avLst>
              <a:gd name="adj" fmla="val 19048"/>
            </a:avLst>
          </a:prstGeom>
          <a:solidFill>
            <a:srgbClr val="FCECEA"/>
          </a:solidFill>
          <a:ln w="12700">
            <a:solidFill>
              <a:srgbClr val="EBBCB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744968" y="5879592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D7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只有结构相似 + 时间先后 → 方向仍应标记为不确定</a:t>
            </a:r>
            <a:endParaRPr lang="en-US" sz="1070" dirty="0"/>
          </a:p>
        </p:txBody>
      </p:sp>
      <p:sp>
        <p:nvSpPr>
          <p:cNvPr id="50" name="Text 47"/>
          <p:cNvSpPr txBox="1"/>
          <p:nvPr/>
        </p:nvSpPr>
        <p:spPr>
          <a:xfrm>
            <a:off x="11247120" y="6473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6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o/OS-Agent/tmp/ppt-analysis/template-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9456"/>
            <a:ext cx="2651760" cy="6035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632" y="94183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57784" y="950976"/>
            <a:ext cx="356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170432" y="850392"/>
            <a:ext cx="1001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创新四：真实工作量账本，而非单一“原创率</a:t>
            </a:r>
            <a:r>
              <a:rPr lang="en-US" sz="3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LEDGER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721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代码行数和相似率无法表达机制级贡献；OS-Agent 以功能节点为单位记录来源、变化与实现完整度。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1792" y="1984248"/>
            <a:ext cx="3858768" cy="4069080"/>
          </a:xfrm>
          <a:prstGeom prst="roundRect">
            <a:avLst>
              <a:gd name="adj" fmla="val 1896"/>
            </a:avLst>
          </a:prstGeom>
          <a:solidFill>
            <a:srgbClr val="001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41832" y="2267712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单一指标的悖论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288036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200" dirty="0"/>
          </a:p>
        </p:txBody>
      </p:sp>
      <p:sp>
        <p:nvSpPr>
          <p:cNvPr id="11" name="Text 8"/>
          <p:cNvSpPr txBox="1"/>
          <p:nvPr/>
        </p:nvSpPr>
        <p:spPr>
          <a:xfrm>
            <a:off x="2167128" y="31272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文件来自 Base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41832" y="3611880"/>
            <a:ext cx="3172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C9D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仍可能在页表、调度或 VFS 关键路径完成高难度改造。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41832" y="4544568"/>
            <a:ext cx="3127248" cy="0"/>
          </a:xfrm>
          <a:prstGeom prst="line">
            <a:avLst/>
          </a:prstGeom>
          <a:noFill/>
          <a:ln w="15240">
            <a:solidFill>
              <a:srgbClr val="3355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41832" y="4773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DD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新增大量代码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941832" y="5157216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D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也可能只是配置接入第三方协议栈，学生投入有限。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工作量向量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892039" y="2542032"/>
            <a:ext cx="6367273" cy="585216"/>
          </a:xfrm>
          <a:prstGeom prst="roundRect">
            <a:avLst>
              <a:gd name="adj" fmla="val 12500"/>
            </a:avLst>
          </a:prstGeom>
          <a:solidFill>
            <a:srgbClr val="E7F5F3"/>
          </a:solidFill>
          <a:ln w="12700">
            <a:solidFill>
              <a:srgbClr val="A9D8D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33772" y="2651760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978B"/>
                </a:solidFill>
                <a:latin typeface="Sitka Text" pitchFamily="2" charset="0"/>
                <a:ea typeface="Cambria" pitchFamily="34" charset="-122"/>
                <a:cs typeface="Cambria" pitchFamily="34" charset="-120"/>
              </a:rPr>
              <a:t>Lₙ = ( Sₙ, Oₙ, Δₙ, Wₙ, Eₙ )</a:t>
            </a:r>
            <a:endParaRPr lang="en-US" sz="1800" dirty="0">
              <a:latin typeface="Sitka Text" pitchFamily="2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7616952" y="2679192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实现状态 · 来源类别 · Base 变化 · 工程投入 · 证据集合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4892040" y="3410712"/>
            <a:ext cx="1389888" cy="448056"/>
          </a:xfrm>
          <a:prstGeom prst="roundRect">
            <a:avLst>
              <a:gd name="adj" fmla="val 16327"/>
            </a:avLst>
          </a:prstGeom>
          <a:solidFill>
            <a:srgbClr val="EEF2F4"/>
          </a:solidFill>
          <a:ln w="12700">
            <a:solidFill>
              <a:srgbClr val="D2DDE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965192" y="3474720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83096" y="3410712"/>
            <a:ext cx="1389888" cy="448056"/>
          </a:xfrm>
          <a:prstGeom prst="roundRect">
            <a:avLst>
              <a:gd name="adj" fmla="val 16327"/>
            </a:avLst>
          </a:prstGeom>
          <a:solidFill>
            <a:srgbClr val="E2EEF1"/>
          </a:solidFill>
          <a:ln w="12700">
            <a:solidFill>
              <a:srgbClr val="E2EEF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56248" y="3474720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配置启用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074152" y="3410712"/>
            <a:ext cx="1389888" cy="448056"/>
          </a:xfrm>
          <a:prstGeom prst="roundRect">
            <a:avLst>
              <a:gd name="adj" fmla="val 16327"/>
            </a:avLst>
          </a:prstGeom>
          <a:solidFill>
            <a:srgbClr val="D7EFEC"/>
          </a:solidFill>
          <a:ln w="12700">
            <a:solidFill>
              <a:srgbClr val="D7EFE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147304" y="3474720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接口适配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9665208" y="3410712"/>
            <a:ext cx="1389888" cy="448056"/>
          </a:xfrm>
          <a:prstGeom prst="roundRect">
            <a:avLst>
              <a:gd name="adj" fmla="val 16327"/>
            </a:avLst>
          </a:prstGeom>
          <a:solidFill>
            <a:srgbClr val="BDE4DF"/>
          </a:solidFill>
          <a:ln w="12700">
            <a:solidFill>
              <a:srgbClr val="BDE4D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738360" y="3474720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8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局部改写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892040" y="4069080"/>
            <a:ext cx="1389888" cy="448056"/>
          </a:xfrm>
          <a:prstGeom prst="roundRect">
            <a:avLst>
              <a:gd name="adj" fmla="val 16327"/>
            </a:avLst>
          </a:prstGeom>
          <a:solidFill>
            <a:srgbClr val="93D1C9"/>
          </a:solidFill>
          <a:ln w="12700">
            <a:solidFill>
              <a:srgbClr val="93D1C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965192" y="4133088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深度改造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483096" y="4069080"/>
            <a:ext cx="1389888" cy="448056"/>
          </a:xfrm>
          <a:prstGeom prst="roundRect">
            <a:avLst>
              <a:gd name="adj" fmla="val 16327"/>
            </a:avLst>
          </a:prstGeom>
          <a:solidFill>
            <a:srgbClr val="23978B"/>
          </a:solidFill>
          <a:ln w="12700">
            <a:solidFill>
              <a:srgbClr val="23978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56248" y="4133088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新增实现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074152" y="4069080"/>
            <a:ext cx="1389888" cy="448056"/>
          </a:xfrm>
          <a:prstGeom prst="roundRect">
            <a:avLst>
              <a:gd name="adj" fmla="val 16327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147304" y="4133088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外部引入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665208" y="4069080"/>
            <a:ext cx="1389888" cy="448056"/>
          </a:xfrm>
          <a:prstGeom prst="roundRect">
            <a:avLst>
              <a:gd name="adj" fmla="val 16327"/>
            </a:avLst>
          </a:prstGeom>
          <a:solidFill>
            <a:srgbClr val="FCECEA"/>
          </a:solidFill>
          <a:ln w="12700">
            <a:solidFill>
              <a:srgbClr val="FCEC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738360" y="4133088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7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 / 空壳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892040" y="4919472"/>
            <a:ext cx="6355080" cy="941832"/>
          </a:xfrm>
          <a:prstGeom prst="roundRect">
            <a:avLst>
              <a:gd name="adj" fmla="val 7767"/>
            </a:avLst>
          </a:prstGeom>
          <a:solidFill>
            <a:srgbClr val="F4F8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129784" y="510235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节点判断要求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6364224" y="50932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入口函数</a:t>
            </a:r>
            <a:endParaRPr lang="en-US" sz="1130" dirty="0"/>
          </a:p>
        </p:txBody>
      </p:sp>
      <p:sp>
        <p:nvSpPr>
          <p:cNvPr id="39" name="Text 36"/>
          <p:cNvSpPr txBox="1"/>
          <p:nvPr/>
        </p:nvSpPr>
        <p:spPr>
          <a:xfrm>
            <a:off x="7242048" y="50932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核心状态</a:t>
            </a:r>
            <a:endParaRPr lang="en-US" sz="1130" dirty="0"/>
          </a:p>
        </p:txBody>
      </p:sp>
      <p:sp>
        <p:nvSpPr>
          <p:cNvPr id="40" name="Text 37"/>
          <p:cNvSpPr txBox="1"/>
          <p:nvPr/>
        </p:nvSpPr>
        <p:spPr>
          <a:xfrm>
            <a:off x="8119872" y="50932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关键路径</a:t>
            </a:r>
            <a:endParaRPr lang="en-US" sz="1130" dirty="0"/>
          </a:p>
        </p:txBody>
      </p:sp>
      <p:sp>
        <p:nvSpPr>
          <p:cNvPr id="41" name="Text 38"/>
          <p:cNvSpPr txBox="1"/>
          <p:nvPr/>
        </p:nvSpPr>
        <p:spPr>
          <a:xfrm>
            <a:off x="8997696" y="5093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 / 并发</a:t>
            </a:r>
            <a:endParaRPr lang="en-US" sz="1130" dirty="0"/>
          </a:p>
        </p:txBody>
      </p:sp>
      <p:sp>
        <p:nvSpPr>
          <p:cNvPr id="42" name="Text 39"/>
          <p:cNvSpPr txBox="1"/>
          <p:nvPr/>
        </p:nvSpPr>
        <p:spPr>
          <a:xfrm>
            <a:off x="10040112" y="509320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 差异</a:t>
            </a:r>
            <a:endParaRPr lang="en-US" sz="1130" dirty="0"/>
          </a:p>
        </p:txBody>
      </p:sp>
      <p:sp>
        <p:nvSpPr>
          <p:cNvPr id="43" name="Text 40"/>
          <p:cNvSpPr txBox="1"/>
          <p:nvPr/>
        </p:nvSpPr>
        <p:spPr>
          <a:xfrm>
            <a:off x="6300216" y="5486400"/>
            <a:ext cx="4727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接口存在不等于语义完成；机制必须形成可追踪的执行闭环。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11247120" y="6473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6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o/OS-Agent/tmp/ppt-analysis/template-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9456"/>
            <a:ext cx="2651760" cy="6035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632" y="94183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57784" y="950976"/>
            <a:ext cx="356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170432" y="850392"/>
            <a:ext cx="1001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操作系统领域建模：12 模块、98 个功能节点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TAXONOMY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721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Taxonomy </a:t>
            </a:r>
            <a:r>
              <a:rPr lang="en-US" sz="1450" dirty="0" err="1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</a:t>
            </a:r>
            <a:r>
              <a:rPr lang="zh-CN" altLang="en-US" sz="14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</a:t>
            </a:r>
            <a:r>
              <a:rPr lang="en-US" sz="14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Linux </a:t>
            </a:r>
            <a:r>
              <a:rPr lang="zh-CN" altLang="en-US" sz="14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等生产级</a:t>
            </a:r>
            <a:r>
              <a:rPr lang="en-US" altLang="zh-CN" sz="1450" dirty="0" err="1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</a:t>
            </a:r>
            <a:r>
              <a:rPr lang="en-US" sz="1450" dirty="0" err="1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功能清单，而是面向小型内核、可从源码定位、能够参与工作量归属的架构功能块</a:t>
            </a:r>
            <a:r>
              <a:rPr lang="en-US" sz="14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1792" y="1993392"/>
            <a:ext cx="7818120" cy="694944"/>
          </a:xfrm>
          <a:prstGeom prst="roundRect">
            <a:avLst>
              <a:gd name="adj" fmla="val 10526"/>
            </a:avLst>
          </a:prstGeom>
          <a:solidFill>
            <a:srgbClr val="E7F5F3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21488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用户边界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057400" y="2112264"/>
            <a:ext cx="2980944" cy="448056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CADAD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30552" y="2167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ABI 与兼容层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184648" y="2112264"/>
            <a:ext cx="2980944" cy="448056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CADAD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257800" y="2167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安全与隔离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" y="2779776"/>
            <a:ext cx="7818120" cy="694944"/>
          </a:xfrm>
          <a:prstGeom prst="roundRect">
            <a:avLst>
              <a:gd name="adj" fmla="val 10526"/>
            </a:avLst>
          </a:prstGeom>
          <a:solidFill>
            <a:srgbClr val="F4F8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" y="293522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内核服务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057400" y="2898648"/>
            <a:ext cx="1417320" cy="448056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CADA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130552" y="295351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文件系统与存储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3621024" y="2898648"/>
            <a:ext cx="1417320" cy="448056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CADAD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94176" y="295351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网络栈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5184648" y="2898648"/>
            <a:ext cx="1417320" cy="448056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CADAD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57800" y="295351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内核服务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6748272" y="2898648"/>
            <a:ext cx="1417320" cy="448056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CADAD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21424" y="295351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调试与可观测性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621792" y="3566160"/>
            <a:ext cx="7818120" cy="694944"/>
          </a:xfrm>
          <a:prstGeom prst="roundRect">
            <a:avLst>
              <a:gd name="adj" fmla="val 10526"/>
            </a:avLst>
          </a:prstGeom>
          <a:solidFill>
            <a:srgbClr val="F1FA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1248" y="37216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2057400" y="3685032"/>
            <a:ext cx="1938528" cy="448056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CADAD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130552" y="373989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进程、线程与调度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142232" y="3685032"/>
            <a:ext cx="1938528" cy="448056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CADAD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215384" y="373989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内存与地址空间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27064" y="3685032"/>
            <a:ext cx="1938528" cy="448056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CADAD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00216" y="373989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同步机制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21792" y="4352544"/>
            <a:ext cx="7818120" cy="694944"/>
          </a:xfrm>
          <a:prstGeom prst="roundRect">
            <a:avLst>
              <a:gd name="adj" fmla="val 10526"/>
            </a:avLst>
          </a:prstGeom>
          <a:solidFill>
            <a:srgbClr val="EAF0F3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1248" y="45079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软硬件边界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2057400" y="4471416"/>
            <a:ext cx="2980944" cy="448056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CADAD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130552" y="4526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体系结构与启动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184648" y="4471416"/>
            <a:ext cx="2980944" cy="448056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CADAD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257800" y="4526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设备与平台驱动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21792" y="5138928"/>
            <a:ext cx="7818120" cy="694944"/>
          </a:xfrm>
          <a:prstGeom prst="roundRect">
            <a:avLst>
              <a:gd name="adj" fmla="val 10526"/>
            </a:avLst>
          </a:prstGeom>
          <a:solidFill>
            <a:srgbClr val="00162A"/>
          </a:solidFill>
          <a:ln w="12700">
            <a:solidFill>
              <a:srgbClr val="00162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41248" y="52943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工程底座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2057400" y="5257800"/>
            <a:ext cx="6108192" cy="448056"/>
          </a:xfrm>
          <a:prstGeom prst="roundRect">
            <a:avLst>
              <a:gd name="adj" fmla="val 16327"/>
            </a:avLst>
          </a:prstGeom>
          <a:solidFill>
            <a:srgbClr val="12374B"/>
          </a:solidFill>
          <a:ln w="12700">
            <a:solidFill>
              <a:srgbClr val="335A6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130552" y="5312664"/>
            <a:ext cx="5961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E9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构建与配置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2688336" y="5989320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小型 OS 真实执行路径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778240" y="1993392"/>
            <a:ext cx="2788920" cy="3840480"/>
          </a:xfrm>
          <a:prstGeom prst="roundRect">
            <a:avLst>
              <a:gd name="adj" fmla="val 2623"/>
            </a:avLst>
          </a:prstGeom>
          <a:solidFill>
            <a:srgbClr val="001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079992" y="2258568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 个同层级节点</a:t>
            </a:r>
            <a:endParaRPr lang="en-US" sz="2000" dirty="0"/>
          </a:p>
        </p:txBody>
      </p:sp>
      <p:sp>
        <p:nvSpPr>
          <p:cNvPr id="45" name="Text 42"/>
          <p:cNvSpPr txBox="1"/>
          <p:nvPr/>
        </p:nvSpPr>
        <p:spPr>
          <a:xfrm>
            <a:off x="9098280" y="2761488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DD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每个节点必须回答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9107424" y="3182112"/>
            <a:ext cx="283464" cy="283464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107424" y="318211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9500616" y="3172968"/>
            <a:ext cx="1636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入口在哪里？</a:t>
            </a:r>
            <a:endParaRPr lang="en-US" sz="1070" dirty="0"/>
          </a:p>
        </p:txBody>
      </p:sp>
      <p:sp>
        <p:nvSpPr>
          <p:cNvPr id="49" name="Shape 46"/>
          <p:cNvSpPr/>
          <p:nvPr/>
        </p:nvSpPr>
        <p:spPr>
          <a:xfrm>
            <a:off x="9107424" y="3666744"/>
            <a:ext cx="283464" cy="283464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107424" y="3666744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9500616" y="3657600"/>
            <a:ext cx="1636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核心状态由谁拥有？</a:t>
            </a:r>
            <a:endParaRPr lang="en-US" sz="1070" dirty="0"/>
          </a:p>
        </p:txBody>
      </p:sp>
      <p:sp>
        <p:nvSpPr>
          <p:cNvPr id="52" name="Shape 49"/>
          <p:cNvSpPr/>
          <p:nvPr/>
        </p:nvSpPr>
        <p:spPr>
          <a:xfrm>
            <a:off x="9107424" y="4151376"/>
            <a:ext cx="283464" cy="283464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107424" y="4151376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500616" y="4142232"/>
            <a:ext cx="1636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关键调用如何跨层？</a:t>
            </a:r>
            <a:endParaRPr lang="en-US" sz="1070" dirty="0"/>
          </a:p>
        </p:txBody>
      </p:sp>
      <p:sp>
        <p:nvSpPr>
          <p:cNvPr id="55" name="Shape 52"/>
          <p:cNvSpPr/>
          <p:nvPr/>
        </p:nvSpPr>
        <p:spPr>
          <a:xfrm>
            <a:off x="9107424" y="4636008"/>
            <a:ext cx="283464" cy="283464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107424" y="463600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9500616" y="4626864"/>
            <a:ext cx="1636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失败与并发边界是什么？</a:t>
            </a:r>
            <a:endParaRPr lang="en-US" sz="1070" dirty="0"/>
          </a:p>
        </p:txBody>
      </p:sp>
      <p:sp>
        <p:nvSpPr>
          <p:cNvPr id="58" name="Shape 55"/>
          <p:cNvSpPr/>
          <p:nvPr/>
        </p:nvSpPr>
        <p:spPr>
          <a:xfrm>
            <a:off x="9107424" y="5120640"/>
            <a:ext cx="283464" cy="28346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9107424" y="5120640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9500616" y="5111496"/>
            <a:ext cx="1636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 Base 改变了什么？</a:t>
            </a:r>
            <a:endParaRPr lang="en-US" sz="1070" dirty="0"/>
          </a:p>
        </p:txBody>
      </p:sp>
      <p:sp>
        <p:nvSpPr>
          <p:cNvPr id="61" name="Shape 58"/>
          <p:cNvSpPr/>
          <p:nvPr/>
        </p:nvSpPr>
        <p:spPr>
          <a:xfrm>
            <a:off x="9079992" y="5504688"/>
            <a:ext cx="2185416" cy="182880"/>
          </a:xfrm>
          <a:prstGeom prst="roundRect">
            <a:avLst>
              <a:gd name="adj" fmla="val 40000"/>
            </a:avLst>
          </a:prstGeom>
          <a:solidFill>
            <a:srgbClr val="193A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153144" y="549554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AFC9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Trap · 页表 · 调度 · VFS · VirtIO</a:t>
            </a:r>
            <a:endParaRPr lang="en-US" sz="890" dirty="0"/>
          </a:p>
        </p:txBody>
      </p:sp>
      <p:sp>
        <p:nvSpPr>
          <p:cNvPr id="64" name="Text 61"/>
          <p:cNvSpPr txBox="1"/>
          <p:nvPr/>
        </p:nvSpPr>
        <p:spPr>
          <a:xfrm>
            <a:off x="11247120" y="6473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6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o/OS-Agent/tmp/ppt-analysis/template-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9456"/>
            <a:ext cx="2651760" cy="6035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632" y="94183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57784" y="950976"/>
            <a:ext cx="356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170432" y="850392"/>
            <a:ext cx="1001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方法实现：Git Blob、AST 与提交级版本链互补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FINGERPRINTING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721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指纹只负责缩小候选和提供结构事实；来源、改写与工程意义仍需结合版本历史和内核机制解释。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1792" y="2011680"/>
            <a:ext cx="2953512" cy="1956816"/>
          </a:xfrm>
          <a:prstGeom prst="roundRect">
            <a:avLst>
              <a:gd name="adj" fmla="val 3738"/>
            </a:avLst>
          </a:prstGeom>
          <a:solidFill>
            <a:srgbClr val="E7F5F3"/>
          </a:solidFill>
          <a:ln w="12700">
            <a:solidFill>
              <a:srgbClr val="A7D5C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157984"/>
            <a:ext cx="2551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IDENTITY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42316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Blob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852928"/>
            <a:ext cx="25511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快速识别完全相同文件、fork、路径搬移与历史内容身份；无需重复解析，结果容易向评委解释。</a:t>
            </a:r>
            <a:endParaRPr lang="en-US" sz="1210" dirty="0"/>
          </a:p>
        </p:txBody>
      </p:sp>
      <p:sp>
        <p:nvSpPr>
          <p:cNvPr id="12" name="Shape 9"/>
          <p:cNvSpPr/>
          <p:nvPr/>
        </p:nvSpPr>
        <p:spPr>
          <a:xfrm>
            <a:off x="4617720" y="2011680"/>
            <a:ext cx="2953512" cy="1956816"/>
          </a:xfrm>
          <a:prstGeom prst="roundRect">
            <a:avLst>
              <a:gd name="adj" fmla="val 3738"/>
            </a:avLst>
          </a:prstGeom>
          <a:solidFill>
            <a:srgbClr val="FFF5DF"/>
          </a:solidFill>
          <a:ln w="12700">
            <a:solidFill>
              <a:srgbClr val="E7C8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18888" y="2157984"/>
            <a:ext cx="2551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SHAPE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818888" y="242316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Tree-sitter AST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818888" y="2852928"/>
            <a:ext cx="25511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补充识别改名、格式变化、局部重排与拆合文件后的结构对应；覆盖 C、C++、Rust 与汇编块。</a:t>
            </a:r>
            <a:endParaRPr lang="en-US" sz="1210" dirty="0"/>
          </a:p>
        </p:txBody>
      </p:sp>
      <p:sp>
        <p:nvSpPr>
          <p:cNvPr id="16" name="Shape 13"/>
          <p:cNvSpPr/>
          <p:nvPr/>
        </p:nvSpPr>
        <p:spPr>
          <a:xfrm>
            <a:off x="8613648" y="2011680"/>
            <a:ext cx="2953512" cy="1956816"/>
          </a:xfrm>
          <a:prstGeom prst="roundRect">
            <a:avLst>
              <a:gd name="adj" fmla="val 3738"/>
            </a:avLst>
          </a:prstGeom>
          <a:solidFill>
            <a:srgbClr val="F4F8F9"/>
          </a:solidFill>
          <a:ln w="12700">
            <a:solidFill>
              <a:srgbClr val="C7D7D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814816" y="2157984"/>
            <a:ext cx="2551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CONTEXT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814816" y="242316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Commit 对与历史链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8814816" y="2852928"/>
            <a:ext cx="25511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追踪目标代码何时引入、来源仓库何时形成、后续如何演化；把 HEAD 相似推进到提交级来源解释。</a:t>
            </a:r>
            <a:endParaRPr lang="en-US" sz="1210" dirty="0"/>
          </a:p>
        </p:txBody>
      </p:sp>
      <p:sp>
        <p:nvSpPr>
          <p:cNvPr id="20" name="Shape 17"/>
          <p:cNvSpPr/>
          <p:nvPr/>
        </p:nvSpPr>
        <p:spPr>
          <a:xfrm>
            <a:off x="3602736" y="2999232"/>
            <a:ext cx="859536" cy="0"/>
          </a:xfrm>
          <a:prstGeom prst="line">
            <a:avLst/>
          </a:prstGeom>
          <a:noFill/>
          <a:ln w="21590">
            <a:solidFill>
              <a:srgbClr val="23978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598664" y="2999232"/>
            <a:ext cx="859536" cy="0"/>
          </a:xfrm>
          <a:prstGeom prst="line">
            <a:avLst/>
          </a:prstGeom>
          <a:noFill/>
          <a:ln w="21590">
            <a:solidFill>
              <a:srgbClr val="E8A838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1993392" y="4306824"/>
            <a:ext cx="8211312" cy="1005840"/>
          </a:xfrm>
          <a:prstGeom prst="roundRect">
            <a:avLst>
              <a:gd name="adj" fmla="val 7273"/>
            </a:avLst>
          </a:prstGeom>
          <a:solidFill>
            <a:srgbClr val="001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231136" y="4636008"/>
            <a:ext cx="329184" cy="329184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231136" y="4636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2642616" y="4590288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 候选召回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3666744" y="4782312"/>
            <a:ext cx="118872" cy="0"/>
          </a:xfrm>
          <a:prstGeom prst="line">
            <a:avLst/>
          </a:prstGeom>
          <a:noFill/>
          <a:ln w="15240">
            <a:solidFill>
              <a:srgbClr val="5A7888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3813048" y="4636008"/>
            <a:ext cx="329184" cy="329184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813048" y="4636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224528" y="4590288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定位引入提交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5248656" y="4782312"/>
            <a:ext cx="118872" cy="0"/>
          </a:xfrm>
          <a:prstGeom prst="line">
            <a:avLst/>
          </a:prstGeom>
          <a:noFill/>
          <a:ln w="15240">
            <a:solidFill>
              <a:srgbClr val="5A7888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394960" y="4636008"/>
            <a:ext cx="329184" cy="329184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394960" y="4636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806440" y="4590288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Blob 检索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6830568" y="4782312"/>
            <a:ext cx="118872" cy="0"/>
          </a:xfrm>
          <a:prstGeom prst="line">
            <a:avLst/>
          </a:prstGeom>
          <a:noFill/>
          <a:ln w="15240">
            <a:solidFill>
              <a:srgbClr val="5A7888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6976872" y="4636008"/>
            <a:ext cx="329184" cy="329184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976872" y="4636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7388352" y="4590288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少量 commit 对 AST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8412480" y="4782312"/>
            <a:ext cx="118872" cy="0"/>
          </a:xfrm>
          <a:prstGeom prst="line">
            <a:avLst/>
          </a:prstGeom>
          <a:noFill/>
          <a:ln w="15240">
            <a:solidFill>
              <a:srgbClr val="5A7888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8558784" y="4636008"/>
            <a:ext cx="329184" cy="32918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558784" y="4636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970264" y="4590288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语义归因</a:t>
            </a:r>
            <a:endParaRPr lang="en-US" sz="1020" dirty="0"/>
          </a:p>
        </p:txBody>
      </p:sp>
      <p:sp>
        <p:nvSpPr>
          <p:cNvPr id="42" name="Shape 39"/>
          <p:cNvSpPr/>
          <p:nvPr/>
        </p:nvSpPr>
        <p:spPr>
          <a:xfrm>
            <a:off x="1993392" y="5650992"/>
            <a:ext cx="8211312" cy="420624"/>
          </a:xfrm>
          <a:prstGeom prst="roundRect">
            <a:avLst>
              <a:gd name="adj" fmla="val 17391"/>
            </a:avLst>
          </a:prstGeom>
          <a:solidFill>
            <a:srgbClr val="FCECEA"/>
          </a:solidFill>
          <a:ln w="12700">
            <a:solidFill>
              <a:srgbClr val="E9BAB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212848" y="5733288"/>
            <a:ext cx="7763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D75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方法取舍：</a:t>
            </a:r>
            <a:r>
              <a:rPr lang="en-US" sz="1120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废弃对变量映射顺序、局部重排和切片边界敏感的 normalized token / MinHash 路径。</a:t>
            </a:r>
            <a:endParaRPr lang="en-US" sz="1120" dirty="0"/>
          </a:p>
        </p:txBody>
      </p:sp>
      <p:sp>
        <p:nvSpPr>
          <p:cNvPr id="45" name="Text 42"/>
          <p:cNvSpPr txBox="1"/>
          <p:nvPr/>
        </p:nvSpPr>
        <p:spPr>
          <a:xfrm>
            <a:off x="11247120" y="6473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6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o/OS-Agent/tmp/ppt-analysis/template-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9456"/>
            <a:ext cx="2651760" cy="6035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632" y="94183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57784" y="950976"/>
            <a:ext cx="356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170432" y="850392"/>
            <a:ext cx="1001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面向智能体时代的完整性与对抗性分析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ANALYSIS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721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系统不仅判断“代码是否相似”，还检查报告依据是否可信；但任何弱信号都不能单独升级为强结论。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1792" y="2011680"/>
            <a:ext cx="2423160" cy="1517904"/>
          </a:xfrm>
          <a:prstGeom prst="roundRect">
            <a:avLst>
              <a:gd name="adj" fmla="val 4819"/>
            </a:avLst>
          </a:prstGeom>
          <a:solidFill>
            <a:srgbClr val="FCECEA"/>
          </a:solidFill>
          <a:ln w="12700">
            <a:solidFill>
              <a:srgbClr val="D75A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157984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D7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42316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硬编码虚假输出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852928"/>
            <a:ext cx="2020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固定打印 TPASS / Pass! 或伪造测试统计</a:t>
            </a:r>
            <a:endParaRPr lang="en-US" sz="1070" dirty="0"/>
          </a:p>
        </p:txBody>
      </p:sp>
      <p:sp>
        <p:nvSpPr>
          <p:cNvPr id="12" name="Shape 9"/>
          <p:cNvSpPr/>
          <p:nvPr/>
        </p:nvSpPr>
        <p:spPr>
          <a:xfrm>
            <a:off x="3364992" y="2011680"/>
            <a:ext cx="2423160" cy="1517904"/>
          </a:xfrm>
          <a:prstGeom prst="roundRect">
            <a:avLst>
              <a:gd name="adj" fmla="val 4819"/>
            </a:avLst>
          </a:prstGeom>
          <a:solidFill>
            <a:srgbClr val="FFF5DF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2157984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242316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测试定向分支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2852928"/>
            <a:ext cx="2020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按测试名、argv/env 或系统调用号绕开通用语义</a:t>
            </a:r>
            <a:endParaRPr lang="en-US" sz="1070" dirty="0"/>
          </a:p>
        </p:txBody>
      </p:sp>
      <p:sp>
        <p:nvSpPr>
          <p:cNvPr id="16" name="Shape 13"/>
          <p:cNvSpPr/>
          <p:nvPr/>
        </p:nvSpPr>
        <p:spPr>
          <a:xfrm>
            <a:off x="6108192" y="2011680"/>
            <a:ext cx="2423160" cy="1517904"/>
          </a:xfrm>
          <a:prstGeom prst="roundRect">
            <a:avLst>
              <a:gd name="adj" fmla="val 4819"/>
            </a:avLst>
          </a:prstGeom>
          <a:solidFill>
            <a:srgbClr val="E7F5F3"/>
          </a:solidFill>
          <a:ln w="12700">
            <a:solidFill>
              <a:srgbClr val="23978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09360" y="2157984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TRACE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242316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声明不一致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2852928"/>
            <a:ext cx="2020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 Agent 配置、生成痕迹、提交节奏与后续修正</a:t>
            </a:r>
            <a:endParaRPr lang="en-US" sz="1070" dirty="0"/>
          </a:p>
        </p:txBody>
      </p:sp>
      <p:sp>
        <p:nvSpPr>
          <p:cNvPr id="20" name="Shape 17"/>
          <p:cNvSpPr/>
          <p:nvPr/>
        </p:nvSpPr>
        <p:spPr>
          <a:xfrm>
            <a:off x="8851392" y="2011680"/>
            <a:ext cx="2423160" cy="1517904"/>
          </a:xfrm>
          <a:prstGeom prst="roundRect">
            <a:avLst>
              <a:gd name="adj" fmla="val 4819"/>
            </a:avLst>
          </a:prstGeom>
          <a:solidFill>
            <a:srgbClr val="F4F8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052560" y="2157984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244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242316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提示词注入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2852928"/>
            <a:ext cx="2020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README/注释中的“忽略规则”被视为证据而非指令</a:t>
            </a:r>
            <a:endParaRPr lang="en-US" sz="1070" dirty="0"/>
          </a:p>
        </p:txBody>
      </p:sp>
      <p:sp>
        <p:nvSpPr>
          <p:cNvPr id="24" name="Text 21"/>
          <p:cNvSpPr txBox="1"/>
          <p:nvPr/>
        </p:nvSpPr>
        <p:spPr>
          <a:xfrm>
            <a:off x="676656" y="394106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操作系统风险必须沿真实执行路径复核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658368" y="4507992"/>
            <a:ext cx="1225296" cy="658368"/>
          </a:xfrm>
          <a:prstGeom prst="roundRect">
            <a:avLst>
              <a:gd name="adj" fmla="val 11111"/>
            </a:avLst>
          </a:prstGeom>
          <a:solidFill>
            <a:srgbClr val="F4F8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9808" y="46817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测试入口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1911096" y="4828032"/>
            <a:ext cx="219456" cy="0"/>
          </a:xfrm>
          <a:prstGeom prst="line">
            <a:avLst/>
          </a:prstGeom>
          <a:noFill/>
          <a:ln w="16510">
            <a:solidFill>
              <a:srgbClr val="23978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2176272" y="4507992"/>
            <a:ext cx="1225296" cy="658368"/>
          </a:xfrm>
          <a:prstGeom prst="roundRect">
            <a:avLst>
              <a:gd name="adj" fmla="val 11111"/>
            </a:avLst>
          </a:prstGeom>
          <a:solidFill>
            <a:srgbClr val="E7F5F3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267712" y="46817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参数解析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3429000" y="4828032"/>
            <a:ext cx="219456" cy="0"/>
          </a:xfrm>
          <a:prstGeom prst="line">
            <a:avLst/>
          </a:prstGeom>
          <a:noFill/>
          <a:ln w="16510">
            <a:solidFill>
              <a:srgbClr val="23978B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3694176" y="4507992"/>
            <a:ext cx="1225296" cy="658368"/>
          </a:xfrm>
          <a:prstGeom prst="roundRect">
            <a:avLst>
              <a:gd name="adj" fmla="val 11111"/>
            </a:avLst>
          </a:prstGeom>
          <a:solidFill>
            <a:srgbClr val="00162A"/>
          </a:solidFill>
          <a:ln w="12700">
            <a:solidFill>
              <a:srgbClr val="00162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785616" y="46817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 / syscall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946904" y="4828032"/>
            <a:ext cx="219456" cy="0"/>
          </a:xfrm>
          <a:prstGeom prst="line">
            <a:avLst/>
          </a:prstGeom>
          <a:noFill/>
          <a:ln w="16510">
            <a:solidFill>
              <a:srgbClr val="D75A4A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5212080" y="4507992"/>
            <a:ext cx="1225296" cy="658368"/>
          </a:xfrm>
          <a:prstGeom prst="roundRect">
            <a:avLst>
              <a:gd name="adj" fmla="val 11111"/>
            </a:avLst>
          </a:prstGeom>
          <a:solidFill>
            <a:srgbClr val="E7F5F3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303520" y="46817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内核机制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464808" y="4828032"/>
            <a:ext cx="219456" cy="0"/>
          </a:xfrm>
          <a:prstGeom prst="line">
            <a:avLst/>
          </a:prstGeom>
          <a:noFill/>
          <a:ln w="16510">
            <a:solidFill>
              <a:srgbClr val="23978B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729984" y="4507992"/>
            <a:ext cx="1225296" cy="658368"/>
          </a:xfrm>
          <a:prstGeom prst="roundRect">
            <a:avLst>
              <a:gd name="adj" fmla="val 11111"/>
            </a:avLst>
          </a:prstGeom>
          <a:solidFill>
            <a:srgbClr val="F4F8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821424" y="46817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最终输出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8641080" y="4057070"/>
            <a:ext cx="2926080" cy="1847088"/>
          </a:xfrm>
          <a:prstGeom prst="roundRect">
            <a:avLst>
              <a:gd name="adj" fmla="val 3960"/>
            </a:avLst>
          </a:prstGeom>
          <a:solidFill>
            <a:srgbClr val="001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961120" y="42611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判断原则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9070848" y="4718304"/>
            <a:ext cx="2057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C9D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字符串命中 ≠ 作弊</a:t>
            </a:r>
            <a:endParaRPr lang="en-US" sz="1330" dirty="0"/>
          </a:p>
          <a:p>
            <a:pPr marL="0" indent="0" algn="ctr">
              <a:buNone/>
            </a:pPr>
            <a:r>
              <a:rPr lang="en-US" sz="1330" b="1" dirty="0">
                <a:solidFill>
                  <a:srgbClr val="C9D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提交密集 ≠ AI 生成</a:t>
            </a:r>
            <a:endParaRPr lang="en-US" sz="1330" dirty="0"/>
          </a:p>
          <a:p>
            <a:pPr marL="0" indent="0" algn="ctr">
              <a:buNone/>
            </a:pPr>
            <a:r>
              <a:rPr lang="en-US" sz="1330" b="1" dirty="0">
                <a:solidFill>
                  <a:srgbClr val="C9D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注释指令 ≠ 系统命令</a:t>
            </a:r>
            <a:endParaRPr lang="en-US" sz="1330" dirty="0"/>
          </a:p>
        </p:txBody>
      </p:sp>
      <p:sp>
        <p:nvSpPr>
          <p:cNvPr id="42" name="Shape 39"/>
          <p:cNvSpPr/>
          <p:nvPr/>
        </p:nvSpPr>
        <p:spPr>
          <a:xfrm>
            <a:off x="9006840" y="5504688"/>
            <a:ext cx="2185416" cy="310896"/>
          </a:xfrm>
          <a:prstGeom prst="roundRect">
            <a:avLst>
              <a:gd name="adj" fmla="val 23529"/>
            </a:avLst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079992" y="5513832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从触发条件追到结果改变</a:t>
            </a:r>
            <a:endParaRPr lang="en-US" sz="1020" dirty="0"/>
          </a:p>
        </p:txBody>
      </p:sp>
      <p:sp>
        <p:nvSpPr>
          <p:cNvPr id="45" name="Text 42"/>
          <p:cNvSpPr txBox="1"/>
          <p:nvPr/>
        </p:nvSpPr>
        <p:spPr>
          <a:xfrm>
            <a:off x="11247120" y="6473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6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o/OS-Agent/tmp/ppt-analysis/template-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9456"/>
            <a:ext cx="2651760" cy="6035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632" y="94183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57784" y="950976"/>
            <a:ext cx="356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170432" y="850392"/>
            <a:ext cx="1001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工程实现：可复现事实、可检查结论、可交互阅读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721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当前系统收敛为一条低环境依赖的本地分析链：不执行不可信作品，也不要求为每个历史内核恢复完整交叉编译环境。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1792" y="2048256"/>
            <a:ext cx="3182112" cy="2651760"/>
          </a:xfrm>
          <a:prstGeom prst="roundRect">
            <a:avLst>
              <a:gd name="adj" fmla="val 2759"/>
            </a:avLst>
          </a:prstGeom>
          <a:solidFill>
            <a:srgbClr val="E7F5F3"/>
          </a:solidFill>
          <a:ln w="12700">
            <a:solidFill>
              <a:srgbClr val="A4D5C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" y="2304288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660904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事实生成层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32688" y="3273552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5840" y="331012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26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scripts/review.py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932688" y="3721608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5840" y="3758184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core/review_case/*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932688" y="4169664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4206240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/ Blob / AST / Evidence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4197096" y="2048256"/>
            <a:ext cx="3182112" cy="2651760"/>
          </a:xfrm>
          <a:prstGeom prst="roundRect">
            <a:avLst>
              <a:gd name="adj" fmla="val 2759"/>
            </a:avLst>
          </a:prstGeom>
          <a:solidFill>
            <a:srgbClr val="00162A"/>
          </a:solidFill>
          <a:ln w="12700">
            <a:solidFill>
              <a:srgbClr val="00162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53128" y="2304288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9DD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ROLE-CONSTRAINED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453128" y="2660904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结论层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4507992" y="3273552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12374B"/>
          </a:solidFill>
          <a:ln w="12700">
            <a:solidFill>
              <a:srgbClr val="3158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81144" y="331012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D8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.claude/agents/*</a:t>
            </a:r>
            <a:endParaRPr lang="en-US" sz="1060" dirty="0"/>
          </a:p>
        </p:txBody>
      </p:sp>
      <p:sp>
        <p:nvSpPr>
          <p:cNvPr id="22" name="Shape 19"/>
          <p:cNvSpPr/>
          <p:nvPr/>
        </p:nvSpPr>
        <p:spPr>
          <a:xfrm>
            <a:off x="4507992" y="3721608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12374B"/>
          </a:solidFill>
          <a:ln w="12700">
            <a:solidFill>
              <a:srgbClr val="31586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81144" y="3758184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D8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base.md / modules/*.md</a:t>
            </a:r>
            <a:endParaRPr lang="en-US" sz="1060" dirty="0"/>
          </a:p>
        </p:txBody>
      </p:sp>
      <p:sp>
        <p:nvSpPr>
          <p:cNvPr id="24" name="Shape 21"/>
          <p:cNvSpPr/>
          <p:nvPr/>
        </p:nvSpPr>
        <p:spPr>
          <a:xfrm>
            <a:off x="4507992" y="4169664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12374B"/>
          </a:solidFill>
          <a:ln w="12700">
            <a:solidFill>
              <a:srgbClr val="31586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81144" y="4206240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D8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findings / contradictions / report</a:t>
            </a:r>
            <a:endParaRPr lang="en-US" sz="1060" dirty="0"/>
          </a:p>
        </p:txBody>
      </p:sp>
      <p:sp>
        <p:nvSpPr>
          <p:cNvPr id="26" name="Shape 23"/>
          <p:cNvSpPr/>
          <p:nvPr/>
        </p:nvSpPr>
        <p:spPr>
          <a:xfrm>
            <a:off x="7772400" y="2048256"/>
            <a:ext cx="3182112" cy="2651760"/>
          </a:xfrm>
          <a:prstGeom prst="roundRect">
            <a:avLst>
              <a:gd name="adj" fmla="val 2759"/>
            </a:avLst>
          </a:prstGeom>
          <a:solidFill>
            <a:srgbClr val="F4F8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28432" y="2304288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8028432" y="2660904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评审展示层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8083296" y="3273552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56448" y="331012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证据阅读器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8083296" y="3721608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156448" y="3758184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工作量账本 / 架构图</a:t>
            </a:r>
            <a:endParaRPr lang="en-US" sz="1060" dirty="0"/>
          </a:p>
        </p:txBody>
      </p:sp>
      <p:sp>
        <p:nvSpPr>
          <p:cNvPr id="33" name="Shape 30"/>
          <p:cNvSpPr/>
          <p:nvPr/>
        </p:nvSpPr>
        <p:spPr>
          <a:xfrm>
            <a:off x="8083296" y="4169664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156448" y="4206240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证据抽屉与反向引用</a:t>
            </a:r>
            <a:endParaRPr lang="en-US" sz="1060" dirty="0"/>
          </a:p>
        </p:txBody>
      </p:sp>
      <p:sp>
        <p:nvSpPr>
          <p:cNvPr id="35" name="Shape 32"/>
          <p:cNvSpPr/>
          <p:nvPr/>
        </p:nvSpPr>
        <p:spPr>
          <a:xfrm>
            <a:off x="3840480" y="3337560"/>
            <a:ext cx="256032" cy="0"/>
          </a:xfrm>
          <a:prstGeom prst="line">
            <a:avLst/>
          </a:prstGeom>
          <a:noFill/>
          <a:ln w="20320">
            <a:solidFill>
              <a:srgbClr val="23978B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7415784" y="3337560"/>
            <a:ext cx="256032" cy="0"/>
          </a:xfrm>
          <a:prstGeom prst="line">
            <a:avLst/>
          </a:prstGeom>
          <a:noFill/>
          <a:ln w="20320">
            <a:solidFill>
              <a:srgbClr val="23978B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21792" y="5102352"/>
            <a:ext cx="1033272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77824" y="53218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可复现链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1920240" y="5285232"/>
            <a:ext cx="1243584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993392" y="529437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commit</a:t>
            </a:r>
            <a:endParaRPr lang="en-US" sz="1020" dirty="0"/>
          </a:p>
        </p:txBody>
      </p:sp>
      <p:sp>
        <p:nvSpPr>
          <p:cNvPr id="41" name="Shape 38"/>
          <p:cNvSpPr/>
          <p:nvPr/>
        </p:nvSpPr>
        <p:spPr>
          <a:xfrm>
            <a:off x="3209544" y="5440680"/>
            <a:ext cx="310896" cy="0"/>
          </a:xfrm>
          <a:prstGeom prst="line">
            <a:avLst/>
          </a:prstGeom>
          <a:noFill/>
          <a:ln w="13970">
            <a:solidFill>
              <a:srgbClr val="A6B5BD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3630168" y="5285232"/>
            <a:ext cx="1243584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703320" y="529437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对象哈希</a:t>
            </a:r>
            <a:endParaRPr lang="en-US" sz="1020" dirty="0"/>
          </a:p>
        </p:txBody>
      </p:sp>
      <p:sp>
        <p:nvSpPr>
          <p:cNvPr id="44" name="Shape 41"/>
          <p:cNvSpPr/>
          <p:nvPr/>
        </p:nvSpPr>
        <p:spPr>
          <a:xfrm>
            <a:off x="4919472" y="5440680"/>
            <a:ext cx="310896" cy="0"/>
          </a:xfrm>
          <a:prstGeom prst="line">
            <a:avLst/>
          </a:prstGeom>
          <a:noFill/>
          <a:ln w="13970">
            <a:solidFill>
              <a:srgbClr val="A6B5BD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5340096" y="5285232"/>
            <a:ext cx="1243584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413248" y="529437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证据卡</a:t>
            </a:r>
            <a:endParaRPr lang="en-US" sz="1020" dirty="0"/>
          </a:p>
        </p:txBody>
      </p:sp>
      <p:sp>
        <p:nvSpPr>
          <p:cNvPr id="47" name="Shape 44"/>
          <p:cNvSpPr/>
          <p:nvPr/>
        </p:nvSpPr>
        <p:spPr>
          <a:xfrm>
            <a:off x="6629400" y="5440680"/>
            <a:ext cx="310896" cy="0"/>
          </a:xfrm>
          <a:prstGeom prst="line">
            <a:avLst/>
          </a:prstGeom>
          <a:noFill/>
          <a:ln w="13970">
            <a:solidFill>
              <a:srgbClr val="A6B5BD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7050024" y="5285232"/>
            <a:ext cx="1243584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123176" y="529437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轻量校验</a:t>
            </a:r>
            <a:endParaRPr lang="en-US" sz="1020" dirty="0"/>
          </a:p>
        </p:txBody>
      </p:sp>
      <p:sp>
        <p:nvSpPr>
          <p:cNvPr id="50" name="Shape 47"/>
          <p:cNvSpPr/>
          <p:nvPr/>
        </p:nvSpPr>
        <p:spPr>
          <a:xfrm>
            <a:off x="8339328" y="5440680"/>
            <a:ext cx="310896" cy="0"/>
          </a:xfrm>
          <a:prstGeom prst="line">
            <a:avLst/>
          </a:prstGeom>
          <a:noFill/>
          <a:ln w="13970">
            <a:solidFill>
              <a:srgbClr val="A6B5BD"/>
            </a:solidFill>
            <a:prstDash val="solid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8759952" y="5285232"/>
            <a:ext cx="1243584" cy="310896"/>
          </a:xfrm>
          <a:prstGeom prst="roundRect">
            <a:avLst>
              <a:gd name="adj" fmla="val 23529"/>
            </a:avLst>
          </a:prstGeom>
          <a:solidFill>
            <a:srgbClr val="001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833104" y="529437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确定性编译</a:t>
            </a:r>
            <a:endParaRPr lang="en-US" sz="1020" dirty="0"/>
          </a:p>
        </p:txBody>
      </p:sp>
      <p:sp>
        <p:nvSpPr>
          <p:cNvPr id="53" name="Shape 50"/>
          <p:cNvSpPr/>
          <p:nvPr/>
        </p:nvSpPr>
        <p:spPr>
          <a:xfrm>
            <a:off x="11137392" y="2048256"/>
            <a:ext cx="429768" cy="3813048"/>
          </a:xfrm>
          <a:prstGeom prst="roundRect">
            <a:avLst>
              <a:gd name="adj" fmla="val 17021"/>
            </a:avLst>
          </a:prstGeom>
          <a:solidFill>
            <a:srgbClr val="F1FAF9"/>
          </a:solidFill>
          <a:ln w="12700">
            <a:solidFill>
              <a:srgbClr val="C5E4E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210544" y="2523744"/>
            <a:ext cx="28346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赖</a:t>
            </a:r>
            <a:endParaRPr lang="en-US" sz="1250" dirty="0"/>
          </a:p>
        </p:txBody>
      </p:sp>
      <p:sp>
        <p:nvSpPr>
          <p:cNvPr id="56" name="Text 53"/>
          <p:cNvSpPr txBox="1"/>
          <p:nvPr/>
        </p:nvSpPr>
        <p:spPr>
          <a:xfrm>
            <a:off x="11247120" y="6473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6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o/OS-Agent/tmp/ppt-analysis/template-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9456"/>
            <a:ext cx="2651760" cy="6035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632" y="94183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57784" y="950976"/>
            <a:ext cx="356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170432" y="850392"/>
            <a:ext cx="1001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阶段性成果：方法体系、工程实现与资料基础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OUTCOMES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721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本阶段不使用旧流程案例包装新架构成果，重点展示已经形成的研究方法、工具链、资料与文档资产。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1792" y="2011680"/>
            <a:ext cx="2496312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221992"/>
            <a:ext cx="2093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438</a:t>
            </a:r>
            <a:r>
              <a:rPr lang="en-US" sz="1300" b="1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798064"/>
            <a:ext cx="2093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本地候选仓库目录</a:t>
            </a:r>
            <a:endParaRPr lang="en-US" sz="1280" dirty="0"/>
          </a:p>
        </p:txBody>
      </p:sp>
      <p:sp>
        <p:nvSpPr>
          <p:cNvPr id="11" name="Text 8"/>
          <p:cNvSpPr txBox="1"/>
          <p:nvPr/>
        </p:nvSpPr>
        <p:spPr>
          <a:xfrm>
            <a:off x="736092" y="3090672"/>
            <a:ext cx="23271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 err="1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历届</a:t>
            </a:r>
            <a:r>
              <a:rPr lang="zh-CN" altLang="en-US" sz="91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</a:t>
            </a:r>
            <a:r>
              <a:rPr lang="en-US" altLang="zh-CN" sz="91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91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决赛</a:t>
            </a:r>
            <a:r>
              <a:rPr lang="en-US" sz="91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作品、26</a:t>
            </a:r>
            <a:r>
              <a:rPr lang="zh-CN" altLang="en-US" sz="91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届</a:t>
            </a:r>
            <a:r>
              <a:rPr lang="en-US" sz="910" dirty="0" err="1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作品与常见</a:t>
            </a:r>
            <a:r>
              <a:rPr lang="en-US" altLang="zh-CN" sz="910" dirty="0" err="1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</a:t>
            </a:r>
            <a:r>
              <a:rPr lang="zh-CN" altLang="en-US" sz="91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</a:t>
            </a:r>
            <a:r>
              <a:rPr lang="en-US" altLang="zh-CN" sz="910" dirty="0" err="1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</a:t>
            </a:r>
            <a:r>
              <a:rPr lang="zh-CN" altLang="en-US" sz="91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，开源社区</a:t>
            </a:r>
            <a:r>
              <a:rPr lang="en-US" altLang="zh-CN" sz="910" dirty="0" err="1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</a:t>
            </a:r>
            <a:endParaRPr lang="en-US" sz="910" dirty="0"/>
          </a:p>
        </p:txBody>
      </p:sp>
      <p:sp>
        <p:nvSpPr>
          <p:cNvPr id="12" name="Shape 9"/>
          <p:cNvSpPr/>
          <p:nvPr/>
        </p:nvSpPr>
        <p:spPr>
          <a:xfrm>
            <a:off x="3438144" y="2011680"/>
            <a:ext cx="2496312" cy="1490472"/>
          </a:xfrm>
          <a:prstGeom prst="roundRect">
            <a:avLst>
              <a:gd name="adj" fmla="val 4908"/>
            </a:avLst>
          </a:prstGeom>
          <a:solidFill>
            <a:srgbClr val="00162A"/>
          </a:solidFill>
          <a:ln w="12700">
            <a:solidFill>
              <a:srgbClr val="0016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39312" y="2221992"/>
            <a:ext cx="2093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× 98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639312" y="2798064"/>
            <a:ext cx="2093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 模块与功能节点</a:t>
            </a:r>
            <a:endParaRPr lang="en-US" sz="1280" dirty="0"/>
          </a:p>
        </p:txBody>
      </p:sp>
      <p:sp>
        <p:nvSpPr>
          <p:cNvPr id="15" name="Text 12"/>
          <p:cNvSpPr txBox="1"/>
          <p:nvPr/>
        </p:nvSpPr>
        <p:spPr>
          <a:xfrm>
            <a:off x="3621024" y="3081528"/>
            <a:ext cx="2130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AFC9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面向小型内核的领域 Taxonomy</a:t>
            </a:r>
            <a:endParaRPr lang="en-US" sz="910" dirty="0"/>
          </a:p>
        </p:txBody>
      </p:sp>
      <p:sp>
        <p:nvSpPr>
          <p:cNvPr id="16" name="Shape 13"/>
          <p:cNvSpPr/>
          <p:nvPr/>
        </p:nvSpPr>
        <p:spPr>
          <a:xfrm>
            <a:off x="6254496" y="2011680"/>
            <a:ext cx="2496312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55664" y="2221992"/>
            <a:ext cx="2093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r>
              <a:rPr lang="en-US" sz="1300" b="1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455664" y="2798064"/>
            <a:ext cx="2093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固定角色 Prompt</a:t>
            </a:r>
            <a:endParaRPr lang="en-US" sz="1280" dirty="0"/>
          </a:p>
        </p:txBody>
      </p:sp>
      <p:sp>
        <p:nvSpPr>
          <p:cNvPr id="19" name="Text 16"/>
          <p:cNvSpPr txBox="1"/>
          <p:nvPr/>
        </p:nvSpPr>
        <p:spPr>
          <a:xfrm>
            <a:off x="6437376" y="3081528"/>
            <a:ext cx="2130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Base、模块、历史、风险、仲裁与编辑</a:t>
            </a:r>
            <a:endParaRPr lang="en-US" sz="910" dirty="0"/>
          </a:p>
        </p:txBody>
      </p:sp>
      <p:sp>
        <p:nvSpPr>
          <p:cNvPr id="20" name="Shape 17"/>
          <p:cNvSpPr/>
          <p:nvPr/>
        </p:nvSpPr>
        <p:spPr>
          <a:xfrm>
            <a:off x="9070848" y="2011680"/>
            <a:ext cx="2496312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72016" y="2221992"/>
            <a:ext cx="2093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78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r>
              <a:rPr lang="en-US" sz="1300" b="1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72016" y="2798064"/>
            <a:ext cx="2093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系统设计书</a:t>
            </a:r>
            <a:endParaRPr lang="en-US" sz="1280" dirty="0"/>
          </a:p>
        </p:txBody>
      </p:sp>
      <p:sp>
        <p:nvSpPr>
          <p:cNvPr id="23" name="Text 20"/>
          <p:cNvSpPr txBox="1"/>
          <p:nvPr/>
        </p:nvSpPr>
        <p:spPr>
          <a:xfrm>
            <a:off x="9253728" y="3081528"/>
            <a:ext cx="2130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A6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研究问题、方法、工程取舍与演进记录</a:t>
            </a:r>
            <a:endParaRPr lang="en-US" sz="910" dirty="0"/>
          </a:p>
        </p:txBody>
      </p:sp>
      <p:sp>
        <p:nvSpPr>
          <p:cNvPr id="24" name="Shape 21"/>
          <p:cNvSpPr/>
          <p:nvPr/>
        </p:nvSpPr>
        <p:spPr>
          <a:xfrm>
            <a:off x="621792" y="3913632"/>
            <a:ext cx="2496312" cy="1353312"/>
          </a:xfrm>
          <a:prstGeom prst="roundRect">
            <a:avLst>
              <a:gd name="adj" fmla="val 5405"/>
            </a:avLst>
          </a:prstGeom>
          <a:solidFill>
            <a:srgbClr val="E7F5F3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4096512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方法成果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4572000"/>
            <a:ext cx="2093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 感知的同届三方比较、多源证据图、真实工作量账本、可推翻结论与仲裁机制。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438144" y="3913632"/>
            <a:ext cx="2496312" cy="1353312"/>
          </a:xfrm>
          <a:prstGeom prst="roundRect">
            <a:avLst>
              <a:gd name="adj" fmla="val 5405"/>
            </a:avLst>
          </a:prstGeom>
          <a:solidFill>
            <a:srgbClr val="F4F8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39312" y="4096512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工程成果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3639312" y="4572000"/>
            <a:ext cx="2093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Git/Blob/AST 事实工具、证据固定与校验、角色化 Agent 工作流、React 阅读器。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254496" y="3913632"/>
            <a:ext cx="2496312" cy="1353312"/>
          </a:xfrm>
          <a:prstGeom prst="roundRect">
            <a:avLst>
              <a:gd name="adj" fmla="val 5405"/>
            </a:avLst>
          </a:prstGeom>
          <a:solidFill>
            <a:srgbClr val="FFF5DF"/>
          </a:solidFill>
          <a:ln w="12700">
            <a:solidFill>
              <a:srgbClr val="E7C97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55664" y="4096512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资料成果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455664" y="4572000"/>
            <a:ext cx="2093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核对历届作品身份、原始仓库、失效链接与常见上游，为来源追溯提供候选基础。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9070848" y="3913632"/>
            <a:ext cx="2496312" cy="1353312"/>
          </a:xfrm>
          <a:prstGeom prst="roundRect">
            <a:avLst>
              <a:gd name="adj" fmla="val 5405"/>
            </a:avLst>
          </a:prstGeom>
          <a:solidFill>
            <a:srgbClr val="F1FA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272016" y="4096512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文档成果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9272016" y="4572000"/>
            <a:ext cx="2093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系统设计书完整记录问题定义、方法选择、失败路线、适用边界、AI 使用与后续方向。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313432" y="5650992"/>
            <a:ext cx="7552944" cy="448056"/>
          </a:xfrm>
          <a:prstGeom prst="roundRect">
            <a:avLst>
              <a:gd name="adj" fmla="val 16327"/>
            </a:avLst>
          </a:prstGeom>
          <a:solidFill>
            <a:srgbClr val="001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560320" y="5751576"/>
            <a:ext cx="7059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下一阶段：使用当前</a:t>
            </a: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</a:t>
            </a:r>
            <a:r>
              <a:rPr lang="en-US" sz="11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架构生成新的公开可复核案例，并建立</a:t>
            </a: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Agent 质量评价指标。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73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6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o/OS-Agent/tmp/ppt-analysis/template-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9456"/>
            <a:ext cx="2651760" cy="6035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632" y="94183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57784" y="950976"/>
            <a:ext cx="356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170432" y="850392"/>
            <a:ext cx="1001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</a:t>
            </a:r>
            <a:r>
              <a:rPr lang="zh-CN" altLang="en-US" sz="3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历程</a:t>
            </a:r>
            <a:r>
              <a:rPr lang="en-US" sz="3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、当前进度与团队分工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TEAM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721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架构不是一次成型，而是在真实小型内核分析中，围绕报告质量、比较粒度、Agent 可控性与工程成本持续迭代。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658999" y="19019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</a:t>
            </a:r>
            <a:r>
              <a:rPr lang="zh-CN" altLang="en-US" sz="17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历程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50976" y="2761488"/>
            <a:ext cx="6729984" cy="0"/>
          </a:xfrm>
          <a:prstGeom prst="line">
            <a:avLst/>
          </a:prstGeom>
          <a:noFill/>
          <a:ln w="25400">
            <a:solidFill>
              <a:srgbClr val="B7C9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2376" y="2578608"/>
            <a:ext cx="384048" cy="384048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2221992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01–03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374904" y="30175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分模块报告</a:t>
            </a:r>
            <a:endParaRPr lang="en-US" sz="1130" dirty="0"/>
          </a:p>
        </p:txBody>
      </p:sp>
      <p:sp>
        <p:nvSpPr>
          <p:cNvPr id="13" name="Text 10"/>
          <p:cNvSpPr txBox="1"/>
          <p:nvPr/>
        </p:nvSpPr>
        <p:spPr>
          <a:xfrm>
            <a:off x="374904" y="3392424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dirty="0" err="1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解决整仓摘要</a:t>
            </a:r>
            <a:r>
              <a:rPr lang="zh-CN" altLang="en-US" sz="93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抽象化描述。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2221992" y="2578608"/>
            <a:ext cx="384048" cy="384048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66544" y="2221992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03–04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874520" y="30175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Plan–Execute–Review</a:t>
            </a:r>
            <a:endParaRPr lang="en-US" sz="1130" dirty="0"/>
          </a:p>
        </p:txBody>
      </p:sp>
      <p:sp>
        <p:nvSpPr>
          <p:cNvPr id="17" name="Text 14"/>
          <p:cNvSpPr txBox="1"/>
          <p:nvPr/>
        </p:nvSpPr>
        <p:spPr>
          <a:xfrm>
            <a:off x="1828800" y="3419856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控制成本高于方法收益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3721608" y="2578608"/>
            <a:ext cx="384048" cy="384048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66160" y="2221992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04–05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3374136" y="30175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 道题单</a:t>
            </a:r>
            <a:endParaRPr lang="en-US" sz="1130" dirty="0"/>
          </a:p>
        </p:txBody>
      </p:sp>
      <p:sp>
        <p:nvSpPr>
          <p:cNvPr id="21" name="Text 18"/>
          <p:cNvSpPr txBox="1"/>
          <p:nvPr/>
        </p:nvSpPr>
        <p:spPr>
          <a:xfrm>
            <a:off x="3328416" y="3419856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dirty="0" err="1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离散答案难</a:t>
            </a:r>
            <a:r>
              <a:rPr lang="zh-CN" altLang="en-US" sz="93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以用来</a:t>
            </a:r>
            <a:r>
              <a:rPr lang="en-US" sz="930" dirty="0" err="1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</a:t>
            </a:r>
            <a:r>
              <a:rPr lang="zh-CN" altLang="en-US" sz="93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两个作品的设计。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5221224" y="2578608"/>
            <a:ext cx="384048" cy="384048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65776" y="2221992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05–06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873752" y="30175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共享状态 / MCP</a:t>
            </a:r>
            <a:endParaRPr lang="en-US" sz="1130" dirty="0"/>
          </a:p>
        </p:txBody>
      </p:sp>
      <p:sp>
        <p:nvSpPr>
          <p:cNvPr id="25" name="Text 22"/>
          <p:cNvSpPr txBox="1"/>
          <p:nvPr/>
        </p:nvSpPr>
        <p:spPr>
          <a:xfrm>
            <a:off x="4828032" y="3419856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dirty="0" err="1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上下文膨胀与错误扩散</a:t>
            </a:r>
            <a:r>
              <a:rPr lang="zh-CN" altLang="en-US" sz="93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altLang="zh-CN" sz="93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r>
              <a:rPr lang="zh-CN" altLang="en-US" sz="93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并发性受阻。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6720840" y="2578608"/>
            <a:ext cx="384048" cy="38404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65392" y="2221992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至今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373368" y="30175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多证据协作</a:t>
            </a:r>
            <a:endParaRPr lang="en-US" sz="1130" dirty="0"/>
          </a:p>
        </p:txBody>
      </p:sp>
      <p:sp>
        <p:nvSpPr>
          <p:cNvPr id="29" name="Text 26"/>
          <p:cNvSpPr txBox="1"/>
          <p:nvPr/>
        </p:nvSpPr>
        <p:spPr>
          <a:xfrm>
            <a:off x="6327648" y="3419856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dirty="0" err="1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Blob+AST、角色化</a:t>
            </a:r>
            <a:r>
              <a:rPr lang="en-US" altLang="zh-CN" sz="930" dirty="0" err="1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r>
              <a:rPr lang="en-US" sz="930" dirty="0" err="1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与仲裁</a:t>
            </a:r>
            <a:r>
              <a:rPr lang="zh-CN" altLang="en-US" sz="93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681228" y="4297680"/>
            <a:ext cx="7159752" cy="1481328"/>
          </a:xfrm>
          <a:prstGeom prst="roundRect">
            <a:avLst>
              <a:gd name="adj" fmla="val 4938"/>
            </a:avLst>
          </a:prstGeom>
          <a:solidFill>
            <a:srgbClr val="F4F8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84098" y="477316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2240280" y="4553712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E9F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313432" y="4562856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3D9E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20" dirty="0"/>
          </a:p>
        </p:txBody>
      </p:sp>
      <p:sp>
        <p:nvSpPr>
          <p:cNvPr id="34" name="Text 31"/>
          <p:cNvSpPr txBox="1"/>
          <p:nvPr/>
        </p:nvSpPr>
        <p:spPr>
          <a:xfrm>
            <a:off x="1956816" y="4956048"/>
            <a:ext cx="1536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研究框架、角色 Prompt、事实工具、设计书、前端骨架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4247230" y="4553712"/>
            <a:ext cx="681386" cy="310896"/>
          </a:xfrm>
          <a:prstGeom prst="roundRect">
            <a:avLst>
              <a:gd name="adj" fmla="val 23529"/>
            </a:avLst>
          </a:prstGeom>
          <a:solidFill>
            <a:srgbClr val="FFF5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247230" y="4562856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020" dirty="0"/>
          </a:p>
        </p:txBody>
      </p:sp>
      <p:sp>
        <p:nvSpPr>
          <p:cNvPr id="37" name="Text 34"/>
          <p:cNvSpPr txBox="1"/>
          <p:nvPr/>
        </p:nvSpPr>
        <p:spPr>
          <a:xfrm>
            <a:off x="3849624" y="4983480"/>
            <a:ext cx="1536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新架构案例验证、运行效率与缓存、边界复核</a:t>
            </a:r>
            <a:endParaRPr lang="en-US" sz="980" dirty="0"/>
          </a:p>
        </p:txBody>
      </p:sp>
      <p:sp>
        <p:nvSpPr>
          <p:cNvPr id="38" name="Shape 35"/>
          <p:cNvSpPr/>
          <p:nvPr/>
        </p:nvSpPr>
        <p:spPr>
          <a:xfrm>
            <a:off x="6107876" y="4553712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181028" y="4562856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020" dirty="0"/>
          </a:p>
        </p:txBody>
      </p:sp>
      <p:sp>
        <p:nvSpPr>
          <p:cNvPr id="40" name="Text 37"/>
          <p:cNvSpPr txBox="1"/>
          <p:nvPr/>
        </p:nvSpPr>
        <p:spPr>
          <a:xfrm>
            <a:off x="5751103" y="4974336"/>
            <a:ext cx="1682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跨作品方向图、外部来源版本定位、Agent 质量评估</a:t>
            </a:r>
            <a:endParaRPr lang="en-US" sz="980" dirty="0"/>
          </a:p>
        </p:txBody>
      </p:sp>
      <p:sp>
        <p:nvSpPr>
          <p:cNvPr id="41" name="Text 38"/>
          <p:cNvSpPr txBox="1"/>
          <p:nvPr/>
        </p:nvSpPr>
        <p:spPr>
          <a:xfrm>
            <a:off x="8257032" y="195681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</a:t>
            </a:r>
            <a:endParaRPr lang="en-US" sz="1700" dirty="0"/>
          </a:p>
        </p:txBody>
      </p:sp>
      <p:sp>
        <p:nvSpPr>
          <p:cNvPr id="42" name="Shape 39"/>
          <p:cNvSpPr/>
          <p:nvPr/>
        </p:nvSpPr>
        <p:spPr>
          <a:xfrm>
            <a:off x="8257032" y="246888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0162A"/>
          </a:solidFill>
          <a:ln w="12700">
            <a:solidFill>
              <a:srgbClr val="00162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458200" y="2578608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9DD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DESIGN &amp; IMPLEMENTATION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8458200" y="2843784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刘建博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8458200" y="3273552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dirty="0" err="1">
                <a:solidFill>
                  <a:srgbClr val="C9D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负责项目评估、问题定义、技术路线、系统架构与核心模块实现</a:t>
            </a:r>
            <a:r>
              <a:rPr lang="en-US" sz="1050" dirty="0">
                <a:solidFill>
                  <a:srgbClr val="C9D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zh-CN" altLang="en-US" sz="1050" dirty="0">
                <a:solidFill>
                  <a:srgbClr val="C9D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r>
              <a:rPr lang="en-US" sz="1050" dirty="0">
                <a:solidFill>
                  <a:srgbClr val="C9D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Agent </a:t>
            </a:r>
            <a:r>
              <a:rPr lang="en-US" sz="1050" dirty="0" err="1">
                <a:solidFill>
                  <a:srgbClr val="C9D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工作流、</a:t>
            </a:r>
            <a:r>
              <a:rPr lang="en-US" altLang="zh-CN" sz="1050" dirty="0" err="1">
                <a:solidFill>
                  <a:srgbClr val="C9D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r>
              <a:rPr lang="en-US" altLang="zh-CN" sz="1050" dirty="0">
                <a:solidFill>
                  <a:srgbClr val="C9D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/prompt</a:t>
            </a:r>
            <a:r>
              <a:rPr lang="zh-CN" altLang="en-US" sz="1050" dirty="0">
                <a:solidFill>
                  <a:srgbClr val="C9D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设计；</a:t>
            </a:r>
            <a:r>
              <a:rPr lang="en-US" sz="1050" dirty="0" err="1">
                <a:solidFill>
                  <a:srgbClr val="C9D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报告前端与</a:t>
            </a:r>
            <a:r>
              <a:rPr lang="zh-CN" altLang="en-US" sz="1050" dirty="0">
                <a:solidFill>
                  <a:srgbClr val="C9D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历届作品信息</a:t>
            </a:r>
            <a:r>
              <a:rPr lang="en-US" sz="1050" dirty="0" err="1">
                <a:solidFill>
                  <a:srgbClr val="C9D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</a:t>
            </a:r>
            <a:r>
              <a:rPr lang="en-US" sz="1050" dirty="0">
                <a:solidFill>
                  <a:srgbClr val="C9D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8257032" y="4215384"/>
            <a:ext cx="3310128" cy="1280160"/>
          </a:xfrm>
          <a:prstGeom prst="roundRect">
            <a:avLst>
              <a:gd name="adj" fmla="val 5714"/>
            </a:avLst>
          </a:prstGeom>
          <a:solidFill>
            <a:srgbClr val="E7F5F3"/>
          </a:solidFill>
          <a:ln w="12700">
            <a:solidFill>
              <a:srgbClr val="A9D7D2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458200" y="4261104"/>
            <a:ext cx="290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COLLABORATION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8458200" y="452628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李佳峻</a:t>
            </a:r>
            <a:endParaRPr lang="en-US" sz="1800" dirty="0"/>
          </a:p>
        </p:txBody>
      </p:sp>
      <p:sp>
        <p:nvSpPr>
          <p:cNvPr id="49" name="Text 46"/>
          <p:cNvSpPr txBox="1"/>
          <p:nvPr/>
        </p:nvSpPr>
        <p:spPr>
          <a:xfrm>
            <a:off x="8458200" y="495604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0" dirty="0" err="1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参赛队员，协助项目信息确认、资料核对与</a:t>
            </a:r>
            <a:r>
              <a:rPr lang="zh-CN" altLang="en-US" sz="108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参赛作品</a:t>
            </a:r>
            <a:r>
              <a:rPr lang="en-US" sz="1080" dirty="0" err="1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</a:t>
            </a:r>
            <a:r>
              <a:rPr lang="zh-CN" altLang="en-US" sz="108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</a:t>
            </a:r>
            <a:r>
              <a:rPr lang="en-US" sz="1080" dirty="0" err="1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</a:t>
            </a:r>
            <a:r>
              <a:rPr lang="en-US" sz="108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80" dirty="0"/>
          </a:p>
        </p:txBody>
      </p:sp>
      <p:sp>
        <p:nvSpPr>
          <p:cNvPr id="51" name="Text 48"/>
          <p:cNvSpPr txBox="1"/>
          <p:nvPr/>
        </p:nvSpPr>
        <p:spPr>
          <a:xfrm>
            <a:off x="11247120" y="6473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6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o/OS-Agent/tmp/ppt-analysis/template-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9456"/>
            <a:ext cx="2651760" cy="6035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632" y="94183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57784" y="950976"/>
            <a:ext cx="356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170432" y="850392"/>
            <a:ext cx="1001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</a:t>
            </a:r>
            <a:r>
              <a:rPr lang="en-US" sz="300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工具使用</a:t>
            </a:r>
            <a:r>
              <a:rPr lang="en-US" sz="3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zh-CN" altLang="en-US" sz="30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</a:t>
            </a:r>
            <a:r>
              <a:rPr lang="en-US" sz="300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与开源合规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23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&amp; COMPLIANCE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721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工具用于提升研发效率与辅助检查；问题定义、架构取舍、职责边界、验证标准和最终责任由参赛者掌握。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1792" y="1993392"/>
            <a:ext cx="3246120" cy="3419856"/>
          </a:xfrm>
          <a:prstGeom prst="roundRect">
            <a:avLst>
              <a:gd name="adj" fmla="val 2254"/>
            </a:avLst>
          </a:prstGeom>
          <a:solidFill>
            <a:srgbClr val="F4F8F9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6112" y="226771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工具与模型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05256" y="2770632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001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8408" y="277977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31136" y="2770632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304288" y="277977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05256" y="3246120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78408" y="3255264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Cursor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231136" y="3246120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304288" y="3255264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Antigravity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05256" y="3877056"/>
            <a:ext cx="941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相关模型</a:t>
            </a:r>
            <a:endParaRPr lang="en-US" sz="122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4242816"/>
            <a:ext cx="2532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6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 / 5.6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66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V4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66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66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3.5 Flash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4224528" y="1993392"/>
            <a:ext cx="3246120" cy="3419856"/>
          </a:xfrm>
          <a:prstGeom prst="roundRect">
            <a:avLst>
              <a:gd name="adj" fmla="val 2254"/>
            </a:avLst>
          </a:prstGeom>
          <a:solidFill>
            <a:srgbClr val="E7F5F3"/>
          </a:solidFill>
          <a:ln w="12700">
            <a:solidFill>
              <a:srgbClr val="A8D6D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07992" y="2267712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使用场景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433263" y="2834640"/>
            <a:ext cx="285450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70" dirty="0" err="1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辅助代码实现与</a:t>
            </a:r>
            <a:r>
              <a:rPr lang="zh-CN" altLang="en-US" sz="1170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r>
              <a:rPr lang="en-US" sz="1170" dirty="0" err="1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重复性工作</a:t>
            </a:r>
            <a:endParaRPr lang="en-US" sz="117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70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候选方案讨论与边界条件检查</a:t>
            </a:r>
            <a:endParaRPr lang="en-US" sz="117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70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README、设计书和汇报材料整理</a:t>
            </a:r>
            <a:endParaRPr lang="en-US" sz="117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70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Skill 辅助前端设计；检查脚本与 Agent Prompt</a:t>
            </a:r>
            <a:r>
              <a:rPr lang="zh-CN" altLang="en-US" sz="1170" dirty="0">
                <a:solidFill>
                  <a:srgbClr val="263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的设计</a:t>
            </a:r>
            <a:endParaRPr lang="en-US" sz="1170" dirty="0"/>
          </a:p>
        </p:txBody>
      </p:sp>
      <p:sp>
        <p:nvSpPr>
          <p:cNvPr id="23" name="Shape 20"/>
          <p:cNvSpPr/>
          <p:nvPr/>
        </p:nvSpPr>
        <p:spPr>
          <a:xfrm>
            <a:off x="4553712" y="4782312"/>
            <a:ext cx="2578608" cy="310896"/>
          </a:xfrm>
          <a:prstGeom prst="roundRect">
            <a:avLst>
              <a:gd name="adj" fmla="val 23529"/>
            </a:avLst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26864" y="4791456"/>
            <a:ext cx="2432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提供生产力，不提供最终裁决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7827264" y="1993392"/>
            <a:ext cx="3739896" cy="3419856"/>
          </a:xfrm>
          <a:prstGeom prst="roundRect">
            <a:avLst>
              <a:gd name="adj" fmla="val 2139"/>
            </a:avLst>
          </a:prstGeom>
          <a:solidFill>
            <a:srgbClr val="001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147304" y="22677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人工把关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8156448" y="2816352"/>
            <a:ext cx="310896" cy="310896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156448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586216" y="285497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1170" dirty="0"/>
          </a:p>
        </p:txBody>
      </p:sp>
      <p:sp>
        <p:nvSpPr>
          <p:cNvPr id="30" name="Text 27"/>
          <p:cNvSpPr txBox="1"/>
          <p:nvPr/>
        </p:nvSpPr>
        <p:spPr>
          <a:xfrm>
            <a:off x="9336024" y="2852928"/>
            <a:ext cx="1792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 err="1">
                <a:solidFill>
                  <a:srgbClr val="B8CD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从文本查重转向工程语义评审</a:t>
            </a:r>
            <a:r>
              <a:rPr lang="zh-CN" altLang="en-US" sz="980" dirty="0">
                <a:solidFill>
                  <a:srgbClr val="B8CD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，分层展示作品工作量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8156448" y="3346704"/>
            <a:ext cx="310896" cy="310896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156448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586216" y="3374609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架构取舍</a:t>
            </a:r>
            <a:endParaRPr lang="en-US" sz="1170" dirty="0"/>
          </a:p>
        </p:txBody>
      </p:sp>
      <p:sp>
        <p:nvSpPr>
          <p:cNvPr id="34" name="Text 31"/>
          <p:cNvSpPr txBox="1"/>
          <p:nvPr/>
        </p:nvSpPr>
        <p:spPr>
          <a:xfrm>
            <a:off x="9336024" y="3346704"/>
            <a:ext cx="1877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 err="1">
                <a:solidFill>
                  <a:srgbClr val="B8CD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确定事实层、Agent</a:t>
            </a:r>
            <a:r>
              <a:rPr lang="en-US" sz="980" dirty="0">
                <a:solidFill>
                  <a:srgbClr val="B8CD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980" dirty="0" err="1">
                <a:solidFill>
                  <a:srgbClr val="B8CD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层与仲裁边界</a:t>
            </a:r>
            <a:r>
              <a:rPr lang="zh-CN" altLang="en-US" sz="980" dirty="0">
                <a:solidFill>
                  <a:srgbClr val="B8CD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。工具的取舍设计。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8156448" y="3877056"/>
            <a:ext cx="310896" cy="310896"/>
          </a:xfrm>
          <a:prstGeom prst="ellipse">
            <a:avLst/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156448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586216" y="39090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规则设计</a:t>
            </a:r>
            <a:endParaRPr lang="en-US" sz="1170" dirty="0"/>
          </a:p>
        </p:txBody>
      </p:sp>
      <p:sp>
        <p:nvSpPr>
          <p:cNvPr id="38" name="Text 35"/>
          <p:cNvSpPr txBox="1"/>
          <p:nvPr/>
        </p:nvSpPr>
        <p:spPr>
          <a:xfrm>
            <a:off x="9336024" y="3914736"/>
            <a:ext cx="1792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B8CD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Skill、角色 Prompt、查重与证据边界</a:t>
            </a:r>
            <a:endParaRPr lang="en-US" sz="980" dirty="0"/>
          </a:p>
        </p:txBody>
      </p:sp>
      <p:sp>
        <p:nvSpPr>
          <p:cNvPr id="39" name="Shape 36"/>
          <p:cNvSpPr/>
          <p:nvPr/>
        </p:nvSpPr>
        <p:spPr>
          <a:xfrm>
            <a:off x="8156448" y="4407408"/>
            <a:ext cx="310896" cy="31089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156448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586216" y="444855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结果责任</a:t>
            </a:r>
            <a:endParaRPr lang="en-US" sz="1170" dirty="0"/>
          </a:p>
        </p:txBody>
      </p:sp>
      <p:sp>
        <p:nvSpPr>
          <p:cNvPr id="42" name="Text 39"/>
          <p:cNvSpPr txBox="1"/>
          <p:nvPr/>
        </p:nvSpPr>
        <p:spPr>
          <a:xfrm>
            <a:off x="9336024" y="4507992"/>
            <a:ext cx="1950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B8CD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人工阅读、修改、验证与最终确认</a:t>
            </a:r>
            <a:endParaRPr lang="en-US" sz="980" dirty="0"/>
          </a:p>
        </p:txBody>
      </p:sp>
      <p:sp>
        <p:nvSpPr>
          <p:cNvPr id="43" name="Shape 40"/>
          <p:cNvSpPr/>
          <p:nvPr/>
        </p:nvSpPr>
        <p:spPr>
          <a:xfrm>
            <a:off x="865632" y="5668658"/>
            <a:ext cx="10460736" cy="466344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117024" y="5742432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190176" y="5751576"/>
            <a:ext cx="5120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源代码</a:t>
            </a:r>
            <a:endParaRPr lang="en-US" sz="970" dirty="0"/>
          </a:p>
        </p:txBody>
      </p:sp>
      <p:sp>
        <p:nvSpPr>
          <p:cNvPr id="46" name="Text 43"/>
          <p:cNvSpPr txBox="1"/>
          <p:nvPr/>
        </p:nvSpPr>
        <p:spPr>
          <a:xfrm>
            <a:off x="1871404" y="5769864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44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1080" dirty="0"/>
          </a:p>
        </p:txBody>
      </p:sp>
      <p:sp>
        <p:nvSpPr>
          <p:cNvPr id="47" name="Shape 44"/>
          <p:cNvSpPr/>
          <p:nvPr/>
        </p:nvSpPr>
        <p:spPr>
          <a:xfrm>
            <a:off x="3110416" y="5742432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FFF5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183568" y="5751576"/>
            <a:ext cx="658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答辩材料</a:t>
            </a:r>
            <a:endParaRPr lang="en-US" sz="970" dirty="0"/>
          </a:p>
        </p:txBody>
      </p:sp>
      <p:sp>
        <p:nvSpPr>
          <p:cNvPr id="49" name="Text 46"/>
          <p:cNvSpPr txBox="1"/>
          <p:nvPr/>
        </p:nvSpPr>
        <p:spPr>
          <a:xfrm>
            <a:off x="4024816" y="5779008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44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</a:t>
            </a:r>
            <a:endParaRPr lang="en-US" sz="1080" dirty="0"/>
          </a:p>
        </p:txBody>
      </p:sp>
      <p:sp>
        <p:nvSpPr>
          <p:cNvPr id="50" name="Shape 47"/>
          <p:cNvSpPr/>
          <p:nvPr/>
        </p:nvSpPr>
        <p:spPr>
          <a:xfrm>
            <a:off x="5460424" y="5742432"/>
            <a:ext cx="932688" cy="310896"/>
          </a:xfrm>
          <a:prstGeom prst="roundRect">
            <a:avLst>
              <a:gd name="adj" fmla="val 23529"/>
            </a:avLst>
          </a:prstGeom>
          <a:solidFill>
            <a:srgbClr val="F4F8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533576" y="5751576"/>
            <a:ext cx="786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667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基础版本</a:t>
            </a:r>
            <a:endParaRPr lang="en-US" sz="970" dirty="0"/>
          </a:p>
        </p:txBody>
      </p:sp>
      <p:sp>
        <p:nvSpPr>
          <p:cNvPr id="52" name="Text 49"/>
          <p:cNvSpPr txBox="1"/>
          <p:nvPr/>
        </p:nvSpPr>
        <p:spPr>
          <a:xfrm>
            <a:off x="6484552" y="5779008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无；本项目独立设计与实现</a:t>
            </a:r>
            <a:endParaRPr lang="en-US" sz="1060" dirty="0"/>
          </a:p>
        </p:txBody>
      </p:sp>
      <p:sp>
        <p:nvSpPr>
          <p:cNvPr id="53" name="Shape 50"/>
          <p:cNvSpPr/>
          <p:nvPr/>
        </p:nvSpPr>
        <p:spPr>
          <a:xfrm>
            <a:off x="8651680" y="5742432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724832" y="5751576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2397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</a:t>
            </a:r>
            <a:endParaRPr lang="en-US" sz="970" dirty="0"/>
          </a:p>
        </p:txBody>
      </p:sp>
      <p:sp>
        <p:nvSpPr>
          <p:cNvPr id="55" name="Text 52"/>
          <p:cNvSpPr txBox="1"/>
          <p:nvPr/>
        </p:nvSpPr>
        <p:spPr>
          <a:xfrm>
            <a:off x="9511215" y="5751576"/>
            <a:ext cx="1737361" cy="3108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2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内核赛道</a:t>
            </a:r>
            <a:r>
              <a:rPr lang="en-US" sz="92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</a:t>
            </a:r>
            <a:r>
              <a:rPr lang="zh-CN" altLang="en-US" sz="92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、平台</a:t>
            </a:r>
            <a:r>
              <a:rPr lang="en-US" altLang="zh-CN" sz="92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gitlab</a:t>
            </a:r>
            <a:r>
              <a:rPr lang="en-US" sz="92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zh-CN" altLang="en-US" sz="92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</a:t>
            </a:r>
            <a:r>
              <a:rPr lang="en-US" sz="920" b="1" dirty="0" err="1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测例；Claude</a:t>
            </a:r>
            <a:r>
              <a:rPr lang="en-US" sz="920" b="1" dirty="0">
                <a:solidFill>
                  <a:srgbClr val="244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Code 文档</a:t>
            </a:r>
            <a:endParaRPr lang="en-US" sz="920" dirty="0"/>
          </a:p>
        </p:txBody>
      </p:sp>
      <p:sp>
        <p:nvSpPr>
          <p:cNvPr id="57" name="Text 54"/>
          <p:cNvSpPr txBox="1"/>
          <p:nvPr/>
        </p:nvSpPr>
        <p:spPr>
          <a:xfrm>
            <a:off x="11247120" y="6473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6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o/OS-Agent/tmp/ppt-analysis/template-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69664" y="749808"/>
            <a:ext cx="1335024" cy="310896"/>
          </a:xfrm>
          <a:prstGeom prst="roundRect">
            <a:avLst>
              <a:gd name="adj" fmla="val 23529"/>
            </a:avLst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242816" y="758952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169664" y="1344168"/>
            <a:ext cx="69768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让操作系统作品评审从相似度检测，</a:t>
            </a:r>
            <a:endParaRPr lang="en-US" sz="3050" dirty="0"/>
          </a:p>
          <a:p>
            <a:pPr marL="0" indent="0" algn="l">
              <a:buNone/>
            </a:pPr>
            <a:r>
              <a:rPr lang="en-US" sz="3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走向可证伪的证据推理</a:t>
            </a:r>
            <a:endParaRPr lang="en-US" sz="305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2926080"/>
            <a:ext cx="6537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BBD5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OS-Agent 面向小型 OS 工程谱系，把领域知识、确定性程序分析、版本演进与多 Agent 协作统一到可复核的评审流程中。</a:t>
            </a:r>
            <a:endParaRPr lang="en-US" sz="1420" dirty="0"/>
          </a:p>
        </p:txBody>
      </p:sp>
      <p:sp>
        <p:nvSpPr>
          <p:cNvPr id="7" name="Shape 4"/>
          <p:cNvSpPr/>
          <p:nvPr/>
        </p:nvSpPr>
        <p:spPr>
          <a:xfrm>
            <a:off x="4169664" y="3904488"/>
            <a:ext cx="3136392" cy="713232"/>
          </a:xfrm>
          <a:prstGeom prst="roundRect">
            <a:avLst>
              <a:gd name="adj" fmla="val 10256"/>
            </a:avLst>
          </a:prstGeom>
          <a:solidFill>
            <a:srgbClr val="0B2B3F"/>
          </a:solidFill>
          <a:ln w="12700">
            <a:solidFill>
              <a:srgbClr val="2D526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70832" y="414223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9DD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 领域模型</a:t>
            </a:r>
            <a:endParaRPr lang="en-US" sz="128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4169664"/>
            <a:ext cx="1517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模块 / 98 节点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7598664" y="3904488"/>
            <a:ext cx="3136392" cy="713232"/>
          </a:xfrm>
          <a:prstGeom prst="roundRect">
            <a:avLst>
              <a:gd name="adj" fmla="val 10256"/>
            </a:avLst>
          </a:prstGeom>
          <a:solidFill>
            <a:srgbClr val="0B2B3F"/>
          </a:solidFill>
          <a:ln w="12700">
            <a:solidFill>
              <a:srgbClr val="2D526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99832" y="413537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9DD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来源推理</a:t>
            </a:r>
            <a:endParaRPr lang="en-US" sz="1280" dirty="0"/>
          </a:p>
        </p:txBody>
      </p:sp>
      <p:sp>
        <p:nvSpPr>
          <p:cNvPr id="12" name="Text 9"/>
          <p:cNvSpPr txBox="1"/>
          <p:nvPr/>
        </p:nvSpPr>
        <p:spPr>
          <a:xfrm>
            <a:off x="9015984" y="4173195"/>
            <a:ext cx="149961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3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Base、共同来源与方向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4169664" y="4818888"/>
            <a:ext cx="3136392" cy="713232"/>
          </a:xfrm>
          <a:prstGeom prst="roundRect">
            <a:avLst>
              <a:gd name="adj" fmla="val 10256"/>
            </a:avLst>
          </a:prstGeom>
          <a:solidFill>
            <a:srgbClr val="0B2B3F"/>
          </a:solidFill>
          <a:ln w="12700">
            <a:solidFill>
              <a:srgbClr val="2D526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79976" y="502005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9DD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协作范式</a:t>
            </a:r>
            <a:endParaRPr lang="en-US" sz="1280" dirty="0"/>
          </a:p>
        </p:txBody>
      </p:sp>
      <p:sp>
        <p:nvSpPr>
          <p:cNvPr id="15" name="Text 12"/>
          <p:cNvSpPr txBox="1"/>
          <p:nvPr/>
        </p:nvSpPr>
        <p:spPr>
          <a:xfrm>
            <a:off x="5556352" y="5061204"/>
            <a:ext cx="1517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有限上下文、返工与仲裁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7598664" y="4818888"/>
            <a:ext cx="3136392" cy="713232"/>
          </a:xfrm>
          <a:prstGeom prst="roundRect">
            <a:avLst>
              <a:gd name="adj" fmla="val 10256"/>
            </a:avLst>
          </a:prstGeom>
          <a:solidFill>
            <a:srgbClr val="0B2B3F"/>
          </a:solidFill>
          <a:ln w="12700">
            <a:solidFill>
              <a:srgbClr val="2D526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99832" y="503322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可信结论</a:t>
            </a:r>
            <a:endParaRPr lang="en-US" sz="1280" dirty="0"/>
          </a:p>
        </p:txBody>
      </p:sp>
      <p:sp>
        <p:nvSpPr>
          <p:cNvPr id="18" name="Text 15"/>
          <p:cNvSpPr txBox="1"/>
          <p:nvPr/>
        </p:nvSpPr>
        <p:spPr>
          <a:xfrm>
            <a:off x="8879770" y="5092116"/>
            <a:ext cx="163583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多源证据、反证与版本失效</a:t>
            </a:r>
            <a:endParaRPr lang="en-US" sz="1030" dirty="0"/>
          </a:p>
        </p:txBody>
      </p:sp>
      <p:sp>
        <p:nvSpPr>
          <p:cNvPr id="19" name="Shape 16"/>
          <p:cNvSpPr/>
          <p:nvPr/>
        </p:nvSpPr>
        <p:spPr>
          <a:xfrm>
            <a:off x="4169664" y="5888736"/>
            <a:ext cx="6565392" cy="411480"/>
          </a:xfrm>
          <a:prstGeom prst="roundRect">
            <a:avLst>
              <a:gd name="adj" fmla="val 17778"/>
            </a:avLst>
          </a:prstGeom>
          <a:solidFill>
            <a:srgbClr val="2397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89120" y="5980176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核心价值：让评委看见作品从哪里来、做了什么，以及为什么可以相信这一结论。</a:t>
            </a:r>
            <a:endParaRPr lang="en-US" sz="1230" dirty="0"/>
          </a:p>
        </p:txBody>
      </p:sp>
      <p:sp>
        <p:nvSpPr>
          <p:cNvPr id="21" name="Text 18"/>
          <p:cNvSpPr txBox="1"/>
          <p:nvPr/>
        </p:nvSpPr>
        <p:spPr>
          <a:xfrm>
            <a:off x="420624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EA8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OS照妖镜 · 华中科技大学 · Proj18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436608" y="644652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E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1844</Words>
  <Application>Microsoft Office PowerPoint</Application>
  <PresentationFormat>宽屏</PresentationFormat>
  <Paragraphs>522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Microsoft YaHei</vt:lpstr>
      <vt:lpstr>Arial</vt:lpstr>
      <vt:lpstr>Calibri</vt:lpstr>
      <vt:lpstr>Cambria</vt:lpstr>
      <vt:lpstr>Sitka Text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华中科技大学计算机科学与技术学院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OS-Agent：面向小型操作系统的分析比对智能体系统</dc:title>
  <dc:subject>OS-Agent 项目汇报</dc:subject>
  <dc:creator>OS照妖镜</dc:creator>
  <cp:lastModifiedBy>虚御风 凭</cp:lastModifiedBy>
  <cp:revision>17</cp:revision>
  <dcterms:created xsi:type="dcterms:W3CDTF">2026-07-17T07:34:06Z</dcterms:created>
  <dcterms:modified xsi:type="dcterms:W3CDTF">2026-07-17T09:47:07Z</dcterms:modified>
</cp:coreProperties>
</file>